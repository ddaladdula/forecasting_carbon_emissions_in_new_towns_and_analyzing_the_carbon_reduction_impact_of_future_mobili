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8288000" cy="10287000"/>
  <p:notesSz cx="6858000" cy="9144000"/>
  <p:embeddedFontLst>
    <p:embeddedFont>
      <p:font typeface="Pretendard Bold" panose="020B0600000101010101" charset="-127"/>
      <p:bold r:id="rId33"/>
    </p:embeddedFont>
    <p:embeddedFont>
      <p:font typeface="Pretendard ExtraBold" panose="020B0600000101010101" charset="-127"/>
      <p:bold r:id="rId34"/>
    </p:embeddedFont>
    <p:embeddedFont>
      <p:font typeface="Pretendard Light" panose="020B0600000101010101" charset="-127"/>
      <p:regular r:id="rId35"/>
    </p:embeddedFont>
    <p:embeddedFont>
      <p:font typeface="Pretendard Medium" panose="020B0600000101010101" charset="-127"/>
      <p:bold r:id="rId36"/>
    </p:embeddedFont>
    <p:embeddedFont>
      <p:font typeface="Pretendard Regular" panose="020B0600000101010101" charset="-127"/>
      <p:regular r:id="rId37"/>
    </p:embeddedFont>
    <p:embeddedFont>
      <p:font typeface="Pretendard SemiBold" panose="020B0600000101010101" charset="-127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0.png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19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42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9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3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17.png"/><Relationship Id="rId5" Type="http://schemas.openxmlformats.org/officeDocument/2006/relationships/image" Target="../media/image104.png"/><Relationship Id="rId10" Type="http://schemas.openxmlformats.org/officeDocument/2006/relationships/image" Target="../media/image37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0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4.png"/><Relationship Id="rId7" Type="http://schemas.openxmlformats.org/officeDocument/2006/relationships/image" Target="../media/image136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5" Type="http://schemas.openxmlformats.org/officeDocument/2006/relationships/image" Target="../media/image125.png"/><Relationship Id="rId4" Type="http://schemas.openxmlformats.org/officeDocument/2006/relationships/image" Target="../media/image123.png"/><Relationship Id="rId9" Type="http://schemas.openxmlformats.org/officeDocument/2006/relationships/image" Target="../media/image1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45.png"/><Relationship Id="rId7" Type="http://schemas.openxmlformats.org/officeDocument/2006/relationships/image" Target="../media/image123.png"/><Relationship Id="rId12" Type="http://schemas.openxmlformats.org/officeDocument/2006/relationships/image" Target="../media/image152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8.png"/><Relationship Id="rId11" Type="http://schemas.openxmlformats.org/officeDocument/2006/relationships/image" Target="../media/image151.png"/><Relationship Id="rId5" Type="http://schemas.openxmlformats.org/officeDocument/2006/relationships/image" Target="../media/image147.png"/><Relationship Id="rId10" Type="http://schemas.openxmlformats.org/officeDocument/2006/relationships/image" Target="../media/image150.png"/><Relationship Id="rId4" Type="http://schemas.openxmlformats.org/officeDocument/2006/relationships/image" Target="../media/image146.png"/><Relationship Id="rId9" Type="http://schemas.openxmlformats.org/officeDocument/2006/relationships/image" Target="../media/image14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300" y="3035300"/>
            <a:ext cx="4597400" cy="4216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700" y="3848100"/>
            <a:ext cx="4203700" cy="311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393700"/>
            <a:ext cx="774700" cy="762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16000" y="9525000"/>
            <a:ext cx="101600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</a:rPr>
              <a:t>TEAM </a:t>
            </a:r>
            <a:r>
              <a:rPr lang="ko-KR" sz="2300" b="0" i="0" u="none" strike="noStrike">
                <a:solidFill>
                  <a:srgbClr val="000000"/>
                </a:solidFill>
                <a:ea typeface="Pretendard SemiBold"/>
              </a:rPr>
              <a:t>동탄소년단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43100" y="4305300"/>
            <a:ext cx="7264400" cy="1219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3700" b="0" i="0" u="none" strike="noStrike" dirty="0">
                <a:solidFill>
                  <a:srgbClr val="000000"/>
                </a:solidFill>
                <a:ea typeface="Pretendard Bold"/>
              </a:rPr>
              <a:t>신도시</a:t>
            </a:r>
            <a:r>
              <a:rPr lang="en-US" sz="3700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700" b="0" i="0" u="none" strike="noStrike" dirty="0">
                <a:solidFill>
                  <a:srgbClr val="000000"/>
                </a:solidFill>
                <a:ea typeface="Pretendard Bold"/>
              </a:rPr>
              <a:t>탄소배출량</a:t>
            </a:r>
            <a:r>
              <a:rPr lang="en-US" sz="3700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700" b="0" i="0" u="none" strike="noStrike" dirty="0">
                <a:solidFill>
                  <a:srgbClr val="000000"/>
                </a:solidFill>
                <a:ea typeface="Pretendard Bold"/>
              </a:rPr>
              <a:t>예측과</a:t>
            </a:r>
          </a:p>
          <a:p>
            <a:pPr lvl="0" algn="r">
              <a:lnSpc>
                <a:spcPct val="99600"/>
              </a:lnSpc>
            </a:pPr>
            <a:r>
              <a:rPr lang="ko-KR" sz="3700" b="0" i="0" u="none" strike="noStrike" dirty="0">
                <a:solidFill>
                  <a:srgbClr val="000000"/>
                </a:solidFill>
                <a:ea typeface="Pretendard Bold"/>
              </a:rPr>
              <a:t>미래</a:t>
            </a:r>
            <a:r>
              <a:rPr lang="en-US" sz="3700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700" b="0" i="0" u="none" strike="noStrike" dirty="0" err="1">
                <a:solidFill>
                  <a:srgbClr val="000000"/>
                </a:solidFill>
                <a:ea typeface="Pretendard Bold"/>
              </a:rPr>
              <a:t>모빌리티</a:t>
            </a:r>
            <a:r>
              <a:rPr lang="en-US" sz="3700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700" b="0" i="0" u="none" strike="noStrike" dirty="0">
                <a:solidFill>
                  <a:srgbClr val="000000"/>
                </a:solidFill>
                <a:ea typeface="Pretendard Bold"/>
              </a:rPr>
              <a:t>도입에</a:t>
            </a:r>
            <a:r>
              <a:rPr lang="en-US" sz="3700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700" b="0" i="0" u="none" strike="noStrike" dirty="0">
                <a:solidFill>
                  <a:srgbClr val="000000"/>
                </a:solidFill>
                <a:ea typeface="Pretendard Bold"/>
              </a:rPr>
              <a:t>따른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0400" y="5486400"/>
            <a:ext cx="72644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3000"/>
              </a:lnSpc>
            </a:pPr>
            <a:r>
              <a:rPr lang="ko-KR" sz="3700" b="0" i="0" u="none" strike="noStrike">
                <a:solidFill>
                  <a:srgbClr val="11359A"/>
                </a:solidFill>
                <a:ea typeface="Pretendard Bold"/>
              </a:rPr>
              <a:t>탄소저감효과</a:t>
            </a:r>
            <a:r>
              <a:rPr lang="en-US" sz="3700" b="0" i="0" u="none" strike="noStrike">
                <a:solidFill>
                  <a:srgbClr val="11359A"/>
                </a:solidFill>
                <a:latin typeface="Pretendard Bold"/>
              </a:rPr>
              <a:t> </a:t>
            </a:r>
            <a:r>
              <a:rPr lang="ko-KR" sz="3700" b="0" i="0" u="none" strike="noStrike">
                <a:solidFill>
                  <a:srgbClr val="11359A"/>
                </a:solidFill>
                <a:ea typeface="Pretendard Bold"/>
              </a:rPr>
              <a:t>분석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5400000">
            <a:off x="8699500" y="6070600"/>
            <a:ext cx="49403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5400000">
            <a:off x="4813300" y="6070600"/>
            <a:ext cx="4940300" cy="127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950700" y="6896100"/>
            <a:ext cx="2819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3.1 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결론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시사점</a:t>
            </a:r>
          </a:p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3.3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참고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문헌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39100" y="6451600"/>
            <a:ext cx="29718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2.1 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절차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로드맵</a:t>
            </a:r>
          </a:p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2.2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활용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</a:p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2.3 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(EDA)</a:t>
            </a:r>
          </a:p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2.4 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모델링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예측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06900" y="6692900"/>
            <a:ext cx="28194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1.1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배경</a:t>
            </a:r>
          </a:p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1.2 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목표</a:t>
            </a:r>
          </a:p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1.3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선행연구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검토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69700" y="5588000"/>
            <a:ext cx="29210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결과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고찰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69200" y="5588000"/>
            <a:ext cx="3416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모델링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22700" y="5588000"/>
            <a:ext cx="3289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프로젝트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개요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31600" y="3721100"/>
            <a:ext cx="27432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8000" b="0" i="0" u="none" strike="noStrike">
                <a:solidFill>
                  <a:srgbClr val="11359A"/>
                </a:solidFill>
                <a:latin typeface="Pretendard SemiBold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47000" y="3721100"/>
            <a:ext cx="27432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8000" b="0" i="0" u="none" strike="noStrike">
                <a:solidFill>
                  <a:srgbClr val="11359A"/>
                </a:solidFill>
                <a:latin typeface="Pretendard Semi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51300" y="3721100"/>
            <a:ext cx="27432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8000" b="0" i="0" u="none" strike="noStrike">
                <a:solidFill>
                  <a:srgbClr val="11359A"/>
                </a:solidFill>
                <a:latin typeface="Pretendard SemiBol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37000" y="1638300"/>
            <a:ext cx="1040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4500" b="0" i="0" u="none" strike="noStrike" spc="-100">
                <a:solidFill>
                  <a:srgbClr val="11359A"/>
                </a:solidFill>
                <a:latin typeface="Pretendard Bold"/>
              </a:rPr>
              <a:t>CONTENTS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-10800000">
            <a:off x="6375400" y="4991100"/>
            <a:ext cx="5562600" cy="12700"/>
          </a:xfrm>
          <a:prstGeom prst="rect">
            <a:avLst/>
          </a:prstGeom>
          <a:effectLst>
            <a:outerShdw blurRad="3" dist="1603" dir="13489769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1676400" y="4013200"/>
            <a:ext cx="14935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5000" b="0" i="0" u="none" strike="noStrike" spc="900">
                <a:solidFill>
                  <a:srgbClr val="11359A"/>
                </a:solidFill>
                <a:latin typeface="Pretendard SemiBold"/>
              </a:rPr>
              <a:t>01 </a:t>
            </a:r>
            <a:r>
              <a:rPr lang="ko-KR" sz="5000" b="0" i="0" u="none" strike="noStrike" spc="900">
                <a:solidFill>
                  <a:srgbClr val="000000"/>
                </a:solidFill>
                <a:ea typeface="Pretendard SemiBold"/>
              </a:rPr>
              <a:t>프로젝트</a:t>
            </a:r>
            <a:r>
              <a:rPr lang="en-US" sz="5000" b="0" i="0" u="none" strike="noStrike" spc="9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000" b="0" i="0" u="none" strike="noStrike" spc="900">
                <a:solidFill>
                  <a:srgbClr val="000000"/>
                </a:solidFill>
                <a:ea typeface="Pretendard SemiBold"/>
              </a:rPr>
              <a:t>개요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58100" y="5181600"/>
            <a:ext cx="44577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en-US" sz="3000" b="1" i="0" u="none" strike="noStrike" spc="600">
                <a:solidFill>
                  <a:srgbClr val="11359A"/>
                </a:solidFill>
                <a:latin typeface="Pretendard Regular"/>
              </a:rPr>
              <a:t>1.1 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3000" b="1" i="0" u="none" strike="noStrike" spc="6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배경</a:t>
            </a:r>
          </a:p>
          <a:p>
            <a:pPr lvl="0" algn="l">
              <a:lnSpc>
                <a:spcPct val="107899"/>
              </a:lnSpc>
            </a:pPr>
            <a:r>
              <a:rPr lang="en-US" sz="3000" b="1" i="0" u="none" strike="noStrike" spc="600">
                <a:solidFill>
                  <a:srgbClr val="11359A"/>
                </a:solidFill>
                <a:latin typeface="Pretendard Regular"/>
              </a:rPr>
              <a:t>1.2</a:t>
            </a:r>
            <a:r>
              <a:rPr lang="en-US" sz="3000" b="1" i="0" u="none" strike="noStrike" spc="6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3000" b="1" i="0" u="none" strike="noStrike" spc="6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목표</a:t>
            </a:r>
          </a:p>
          <a:p>
            <a:pPr lvl="0" algn="l">
              <a:lnSpc>
                <a:spcPct val="107899"/>
              </a:lnSpc>
            </a:pPr>
            <a:r>
              <a:rPr lang="en-US" sz="3000" b="1" i="0" u="none" strike="noStrike" spc="600">
                <a:solidFill>
                  <a:srgbClr val="11359A"/>
                </a:solidFill>
                <a:latin typeface="Pretendard Regular"/>
              </a:rPr>
              <a:t>1.3</a:t>
            </a:r>
            <a:r>
              <a:rPr lang="en-US" sz="3000" b="1" i="0" u="none" strike="noStrike" spc="6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선행연구</a:t>
            </a:r>
            <a:r>
              <a:rPr lang="en-US" sz="3000" b="1" i="0" u="none" strike="noStrike" spc="6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검토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900" y="5384800"/>
            <a:ext cx="6680200" cy="317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2717800"/>
            <a:ext cx="292100" cy="304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13000" y="482600"/>
            <a:ext cx="54737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프로젝트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배경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기후위기와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도시계획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트렌드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변화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09800" y="3136900"/>
            <a:ext cx="144272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산업화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이후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온실가스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배출량이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급증하면서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기후위기가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가속화되고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있으며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향후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더욱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심화될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것으로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전망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(WMO, 2024; MET OFFICE, 2024)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세계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모든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산업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분야에서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기후위기에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대응하기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위한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탄소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감축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정책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추진이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활발히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이루어지고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있음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환경부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2024)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도시는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탄소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배출이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주로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이루어지는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공간단위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➜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도시계획분야의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en-US" sz="1800" b="1" i="0" u="none" strike="noStrike">
                <a:solidFill>
                  <a:srgbClr val="11359A"/>
                </a:solidFill>
                <a:latin typeface="Pretendard Light"/>
              </a:rPr>
              <a:t>* </a:t>
            </a:r>
            <a:r>
              <a:rPr lang="ko-KR" sz="1800" b="1" i="0" u="none" strike="noStrike">
                <a:solidFill>
                  <a:srgbClr val="11359A"/>
                </a:solidFill>
                <a:ea typeface="Pretendard Light"/>
              </a:rPr>
              <a:t>트렌드</a:t>
            </a:r>
            <a:r>
              <a:rPr lang="en-US" sz="18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800" b="1" i="0" u="none" strike="noStrike">
                <a:solidFill>
                  <a:srgbClr val="11359A"/>
                </a:solidFill>
                <a:ea typeface="Pretendard Light"/>
              </a:rPr>
              <a:t>변화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필요성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증대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건축공간연구원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2023)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16200" y="2679700"/>
            <a:ext cx="7404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전세계적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기후위기와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도시계획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트렌드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변화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01900" y="4254500"/>
            <a:ext cx="71247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*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탄소저감을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위한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토지이용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·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교통계획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·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도시계획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79700" y="8699500"/>
            <a:ext cx="5346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11359A"/>
                </a:solidFill>
                <a:ea typeface="Pretendard Light"/>
              </a:rPr>
              <a:t>❶ IPCC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시나리오별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지구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평균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지표면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온도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변화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전망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그래프</a:t>
            </a:r>
            <a:br>
              <a:rPr lang="ko-KR" sz="1400" b="0" i="0" u="none" strike="noStrike">
                <a:solidFill>
                  <a:srgbClr val="11359A"/>
                </a:solidFill>
                <a:ea typeface="Pretendard Light"/>
              </a:rPr>
            </a:b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(IPCC, Sixth Assessment Report, 2023)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8100" y="4927600"/>
            <a:ext cx="6210300" cy="622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0" y="5067300"/>
            <a:ext cx="7023100" cy="3505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502900" y="8699500"/>
            <a:ext cx="5346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11359A"/>
                </a:solidFill>
                <a:ea typeface="Pretendard Light"/>
              </a:rPr>
              <a:t>❷ 2030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온실가스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배출량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감축목표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상향안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단위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: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만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t, Co2eq)</a:t>
            </a:r>
            <a:b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</a:b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탄소중립위원회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관계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정부부처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2021)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15500" y="5194300"/>
            <a:ext cx="495300" cy="17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000" b="1" i="0" u="none" strike="noStrike">
                <a:solidFill>
                  <a:srgbClr val="000000"/>
                </a:solidFill>
                <a:ea typeface="Pretendard Light"/>
              </a:rPr>
              <a:t>총계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4600" y="406400"/>
            <a:ext cx="10922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13000" y="482600"/>
            <a:ext cx="54737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프로젝트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배경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탄소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배출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흡수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요인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탄소저감을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전략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44600" y="406400"/>
            <a:ext cx="10922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1.1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679700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800" y="5067300"/>
            <a:ext cx="4025900" cy="3606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1800" y="5067300"/>
            <a:ext cx="4025900" cy="3606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5067300"/>
            <a:ext cx="4140200" cy="3606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146300" y="3175000"/>
            <a:ext cx="152654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도시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주요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탄소배출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요인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: 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전력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생산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산업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화학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철강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등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),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건물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등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도시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주요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탄소흡수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요인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: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도시림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수변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생태축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옥상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녹화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, 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공원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등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녹지공간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특히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신도시는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개발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초기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단계부터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탄소중립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달성을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고려한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계획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수립이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가능하여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en-US" sz="1800" b="1" i="0" u="none" strike="noStrike">
                <a:solidFill>
                  <a:srgbClr val="11359A"/>
                </a:solidFill>
                <a:latin typeface="Pretendard Light"/>
              </a:rPr>
              <a:t>* </a:t>
            </a:r>
            <a:r>
              <a:rPr lang="ko-KR" sz="1800" b="1" i="0" u="none" strike="noStrike">
                <a:solidFill>
                  <a:srgbClr val="11359A"/>
                </a:solidFill>
                <a:ea typeface="Pretendard Light"/>
              </a:rPr>
              <a:t>탄소저감</a:t>
            </a:r>
            <a:r>
              <a:rPr lang="en-US" sz="18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800" b="1" i="0" u="none" strike="noStrike">
                <a:solidFill>
                  <a:srgbClr val="11359A"/>
                </a:solidFill>
                <a:ea typeface="Pretendard Light"/>
              </a:rPr>
              <a:t>전략</a:t>
            </a:r>
            <a:r>
              <a:rPr lang="en-US" sz="1800" b="0" i="0" u="none" strike="noStrike">
                <a:solidFill>
                  <a:srgbClr val="11359A"/>
                </a:solidFill>
                <a:latin typeface="Pretendard Light"/>
              </a:rPr>
              <a:t> 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선제적으로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적용할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있음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국토연구원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2023)</a:t>
            </a:r>
          </a:p>
          <a:p>
            <a:pPr lvl="0" algn="l">
              <a:lnSpc>
                <a:spcPct val="116199"/>
              </a:lnSpc>
            </a:pPr>
            <a:endParaRPr lang="en-US" sz="1500" b="0" i="0" u="none" strike="noStrike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90800" y="2679700"/>
            <a:ext cx="74930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도시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내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흡수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·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배출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요인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신도시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탄소저감을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위한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전략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51100" y="4241800"/>
            <a:ext cx="69469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*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녹지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식재율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확대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로봇택시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·PBV(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목적기반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모빌리티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)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등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미래형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모빌리티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수단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적극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도입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1000" y="8813800"/>
            <a:ext cx="52451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11359A"/>
                </a:solidFill>
                <a:ea typeface="Pretendard Light"/>
              </a:rPr>
              <a:t>❶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대표적인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도시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내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탄소배출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요인</a:t>
            </a:r>
          </a:p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포스코그룹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뉴스룸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, 2024)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26200" y="8813800"/>
            <a:ext cx="5346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11359A"/>
                </a:solidFill>
                <a:ea typeface="Pretendard Light"/>
              </a:rPr>
              <a:t>❷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대표적인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도시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내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탄소흡수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요인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녹지공간</a:t>
            </a:r>
            <a:br>
              <a:rPr lang="ko-KR" sz="1400" b="0" i="0" u="none" strike="noStrike">
                <a:solidFill>
                  <a:srgbClr val="11359A"/>
                </a:solidFill>
                <a:ea typeface="Pretendard Light"/>
              </a:rPr>
            </a:b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매일건설신문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, 2018)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01400" y="8813800"/>
            <a:ext cx="5295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11359A"/>
                </a:solidFill>
                <a:ea typeface="Pretendard Light"/>
              </a:rPr>
              <a:t>❸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미래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모빌리티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수단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예시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로봇택시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&amp; PBV</a:t>
            </a:r>
            <a:b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</a:b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현대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월드와이드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, 2021; </a:t>
            </a:r>
            <a:r>
              <a:rPr lang="ko-KR" sz="1400" b="0" i="0" u="none" strike="noStrike">
                <a:solidFill>
                  <a:srgbClr val="11359A"/>
                </a:solidFill>
                <a:ea typeface="Pretendard Light"/>
              </a:rPr>
              <a:t>현대자동차그룹</a:t>
            </a:r>
            <a:r>
              <a:rPr lang="en-US" sz="1400" b="0" i="0" u="none" strike="noStrike">
                <a:solidFill>
                  <a:srgbClr val="11359A"/>
                </a:solidFill>
                <a:latin typeface="Pretendard Light"/>
              </a:rPr>
              <a:t>, 2023)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1790700"/>
            <a:ext cx="304800" cy="304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06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13000" y="482600"/>
            <a:ext cx="54737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프로젝트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목표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신도시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탄소중립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구현을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목표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설정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5400" y="406400"/>
            <a:ext cx="10922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1.2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60600" y="2184400"/>
            <a:ext cx="7353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개발단계에서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탄소중립을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지향하는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800" b="1" i="0" u="none" strike="noStrike">
                <a:solidFill>
                  <a:srgbClr val="11359A"/>
                </a:solidFill>
                <a:latin typeface="Pretendard Light"/>
              </a:rPr>
              <a:t>* </a:t>
            </a:r>
            <a:r>
              <a:rPr lang="ko-KR" sz="1800" b="1" i="0" u="none" strike="noStrike">
                <a:solidFill>
                  <a:srgbClr val="11359A"/>
                </a:solidFill>
                <a:ea typeface="Pretendard Light"/>
              </a:rPr>
              <a:t>미래지향적</a:t>
            </a:r>
            <a:r>
              <a:rPr lang="en-US" sz="18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800" b="1" i="0" u="none" strike="noStrike">
                <a:solidFill>
                  <a:srgbClr val="11359A"/>
                </a:solidFill>
                <a:ea typeface="Pretendard Light"/>
              </a:rPr>
              <a:t>도시계획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반영이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필수적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  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67000" y="1778000"/>
            <a:ext cx="74930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신도시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탄소중립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구현을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위한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목표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설정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41800" y="8877300"/>
            <a:ext cx="108458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11359A"/>
                </a:solidFill>
                <a:ea typeface="Pretendard Regular"/>
              </a:rPr>
              <a:t>❶  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탄소중립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도시계획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수립의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근거로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활용할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탄소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 err="1">
                <a:solidFill>
                  <a:srgbClr val="11359A"/>
                </a:solidFill>
                <a:ea typeface="Pretendard Regular"/>
              </a:rPr>
              <a:t>흡수량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·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배출량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예측모델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설계</a:t>
            </a:r>
          </a:p>
          <a:p>
            <a:pPr lvl="0" algn="l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11359A"/>
                </a:solidFill>
                <a:ea typeface="Pretendard Regular"/>
              </a:rPr>
              <a:t>❷  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광명시흥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공공주택지구</a:t>
            </a:r>
            <a:r>
              <a:rPr lang="en-US" sz="2000" b="0" i="0" u="none" strike="noStrike" dirty="0">
                <a:solidFill>
                  <a:srgbClr val="11359A"/>
                </a:solidFill>
                <a:latin typeface="Pretendard Regular"/>
              </a:rPr>
              <a:t> 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탄소중립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구현을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2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도시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인프라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및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미래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 err="1">
                <a:solidFill>
                  <a:srgbClr val="11359A"/>
                </a:solidFill>
                <a:ea typeface="Pretendard Regular"/>
              </a:rPr>
              <a:t>모빌리티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측면에서의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실천적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방안</a:t>
            </a:r>
            <a:r>
              <a:rPr lang="en-US" sz="2000" b="1" i="0" u="none" strike="noStrike" dirty="0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2000" b="1" i="0" u="none" strike="noStrike" dirty="0">
                <a:solidFill>
                  <a:srgbClr val="11359A"/>
                </a:solidFill>
                <a:ea typeface="Pretendard Regular"/>
              </a:rPr>
              <a:t>제안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95500" y="7239000"/>
            <a:ext cx="7061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대상지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중심으로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탄소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흡수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요인과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관련가능성이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특성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추출</a:t>
            </a:r>
          </a:p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분석대상지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특성과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탄소배출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흡수요인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분석하여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요인별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가중치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도출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27300" y="2578100"/>
            <a:ext cx="22860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11359A"/>
                </a:solidFill>
                <a:latin typeface="Pretendard Light"/>
              </a:rPr>
              <a:t>*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토지이용계획</a:t>
            </a:r>
            <a:r>
              <a:rPr lang="en-US" sz="1500" b="0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교통계획</a:t>
            </a:r>
            <a:r>
              <a:rPr lang="en-US" sz="15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76500" y="6908800"/>
            <a:ext cx="63119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분석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대상지역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: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동탄</a:t>
            </a:r>
            <a:r>
              <a:rPr lang="en-US" sz="1500" b="0" i="0" u="none" strike="noStrike">
                <a:solidFill>
                  <a:srgbClr val="11359A"/>
                </a:solidFill>
                <a:latin typeface="Pretendard Light"/>
              </a:rPr>
              <a:t> 1·2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신도시</a:t>
            </a:r>
            <a:r>
              <a:rPr lang="en-US" sz="1500" b="0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위례신도시</a:t>
            </a:r>
            <a:r>
              <a:rPr lang="en-US" sz="1500" b="0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하남</a:t>
            </a:r>
            <a:r>
              <a:rPr lang="en-US" sz="15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미사강변도시</a:t>
            </a:r>
            <a:r>
              <a:rPr lang="en-US" sz="1500" b="0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청라국제도시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0" y="2832100"/>
            <a:ext cx="2133600" cy="4089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300" y="2908300"/>
            <a:ext cx="2006600" cy="2032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300" y="2908300"/>
            <a:ext cx="1981200" cy="2032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6300" y="4864100"/>
            <a:ext cx="2006600" cy="1968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2000" y="4864100"/>
            <a:ext cx="1841500" cy="1955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alphaModFix amt="47000"/>
          </a:blip>
          <a:stretch>
            <a:fillRect/>
          </a:stretch>
        </p:blipFill>
        <p:spPr>
          <a:xfrm>
            <a:off x="1143000" y="7797800"/>
            <a:ext cx="16116300" cy="10922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198100" y="6908800"/>
            <a:ext cx="53467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적용대상지역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: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광명시흥</a:t>
            </a:r>
            <a:r>
              <a:rPr lang="en-US" sz="1500" b="0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11359A"/>
                </a:solidFill>
                <a:ea typeface="Pretendard Light"/>
              </a:rPr>
              <a:t>공공주택지구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5300" y="7239000"/>
            <a:ext cx="73406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탄소배출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흡수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요인을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기반으로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적용대상지를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고려한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탄소배출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흡수량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예측</a:t>
            </a:r>
          </a:p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미래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모빌리티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분담률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적용에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따른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탄소저감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효과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녹지조성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효과로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산정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07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13000" y="482600"/>
            <a:ext cx="64643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선행연구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검토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도시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내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탄소흡수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배출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연구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미래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모빌래티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연구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검토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7300" y="406400"/>
            <a:ext cx="11811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1.3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16200000">
            <a:off x="7759700" y="5003800"/>
            <a:ext cx="9613900" cy="12192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117600" y="1930400"/>
          <a:ext cx="10972800" cy="7264400"/>
        </p:xfrm>
        <a:graphic>
          <a:graphicData uri="http://schemas.openxmlformats.org/drawingml/2006/table">
            <a:tbl>
              <a:tblPr/>
              <a:tblGrid>
                <a:gridCol w="553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연구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정보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출처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활용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요소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이태정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김기동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정원식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김동술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. (2012).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도로수송부문의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온실가스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배출량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산정방법에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따른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경기도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군별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배출량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비교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.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한국대기환경학회지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28(4), 454-465.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연료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소비량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차량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등록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대수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연장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교통량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이민호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오동규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강승모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. (2013).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온실가스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배출과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혼잡을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고려한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공공시설의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최적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위치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산정에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관한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연구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.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대한교통학회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학술대회지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68, 46 - 51.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통행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비용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온실가스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배출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비용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혼잡도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정민선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조희선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변병설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. (2015).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도시특성요소가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온실가스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배출에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미치는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영향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-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수도권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지역을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중심으로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-.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국토지리학회지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49(3), 297-306.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인구밀도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고용밀도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교통량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상업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공업지역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면적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비중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녹지면적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비율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대중교통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인프라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개선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Mark J. Nieuwenhuijsen. (2020).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Urban and Transport Planning Pathways to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Carbon Neutral, Liveable and Healthy Cities.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ScienceDirect - Environmental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Research. 140, 105661.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고밀도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토지이용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자동차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의존도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감소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보행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자전거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친화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인프라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녹지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확보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대중교통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확대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Jiah Lee, Seunghyun Jung. (2023).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Towards Carbon-Neutral Cities: Urban Classification Based on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Physical Environment and Carbon Emission Characteristics.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Land, 2023, 12(5), 968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규모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인구밀도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산업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구조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활동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토지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이용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패턴</a:t>
                      </a:r>
                      <a:b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인프라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서비스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수준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녹지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탄소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흡수원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분포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Nikolaus Lang, Michael Rüßmann, Thomas Dauner, Satoshi Komiya, Xavier Mosquet, Xanthi. (2016). Self-Driving Vehicles, Robo-Taxis, and the Urban Mobility Revolution.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Boston Consulting Group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로보택시와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자율주행차의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도입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차량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수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Tolga Ercan, Nuri C. Onat, Nowreen Keya, Ömer Tatari, Naveen Eluru, Murat Küçükvar. (2022). Autonomous electric vehicles can reduce carbon emissions and air pollution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Transportation Research Part D: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Transport and Environment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자율주행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전기차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도입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4200" y="3327400"/>
            <a:ext cx="3733800" cy="383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6600" y="3568700"/>
            <a:ext cx="3441700" cy="711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458700" y="7391400"/>
            <a:ext cx="53086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탄소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흡수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관련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선행연구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검토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후</a:t>
            </a:r>
          </a:p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도시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온실가스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흡수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분석에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활용되었던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</a:p>
          <a:p>
            <a:pPr lvl="0" algn="ctr">
              <a:lnSpc>
                <a:spcPct val="116199"/>
              </a:lnSpc>
            </a:pPr>
            <a:r>
              <a:rPr lang="ko-KR" sz="1600" b="1" i="0" u="none" strike="noStrike">
                <a:solidFill>
                  <a:srgbClr val="11359A"/>
                </a:solidFill>
                <a:ea typeface="Pretendard Regular"/>
              </a:rPr>
              <a:t>주요</a:t>
            </a:r>
            <a:r>
              <a:rPr lang="en-US" sz="1600" b="1" i="0" u="none" strike="noStrike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Regular"/>
              </a:rPr>
              <a:t>영향</a:t>
            </a:r>
            <a:r>
              <a:rPr lang="en-US" sz="1600" b="1" i="0" u="none" strike="noStrike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Regular"/>
              </a:rPr>
              <a:t>요소</a:t>
            </a:r>
            <a:r>
              <a:rPr lang="en-US" sz="1600" b="1" i="0" u="none" strike="noStrike">
                <a:solidFill>
                  <a:srgbClr val="11359A"/>
                </a:solidFill>
                <a:latin typeface="Pretendard Regular"/>
              </a:rPr>
              <a:t> (</a:t>
            </a:r>
            <a:r>
              <a:rPr lang="ko-KR" sz="1600" b="1" i="0" u="none" strike="noStrike">
                <a:solidFill>
                  <a:srgbClr val="11359A"/>
                </a:solidFill>
                <a:ea typeface="Pretendard Regular"/>
              </a:rPr>
              <a:t>독립변수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Regular"/>
              </a:rPr>
              <a:t>)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01700" y="3759200"/>
            <a:ext cx="31115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지역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특성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49300" y="4330700"/>
            <a:ext cx="3416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인구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거주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유동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),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상권접근성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, </a:t>
            </a:r>
          </a:p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토지용도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지가수준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녹지면적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등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6600" y="5308600"/>
            <a:ext cx="3441700" cy="711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601700" y="5499100"/>
            <a:ext cx="31115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교통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특성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49300" y="6134100"/>
            <a:ext cx="34163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교통량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탄소저감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모빌리티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활용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혼잡빈도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시간강도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평균속도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교통혼잡도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-10800000">
            <a:off x="6375400" y="4991100"/>
            <a:ext cx="5562600" cy="12700"/>
          </a:xfrm>
          <a:prstGeom prst="rect">
            <a:avLst/>
          </a:prstGeom>
          <a:effectLst>
            <a:outerShdw blurRad="3" dist="1603" dir="13489769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1676400" y="4013200"/>
            <a:ext cx="14935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5000" b="0" i="0" u="none" strike="noStrike" spc="900">
                <a:solidFill>
                  <a:srgbClr val="11359A"/>
                </a:solidFill>
                <a:latin typeface="Pretendard SemiBold"/>
              </a:rPr>
              <a:t>02 </a:t>
            </a:r>
            <a:r>
              <a:rPr lang="ko-KR" sz="5000" b="0" i="0" u="none" strike="noStrike" spc="9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5000" b="0" i="0" u="none" strike="noStrike" spc="9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000" b="0" i="0" u="none" strike="noStrike" spc="9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5000" b="0" i="0" u="none" strike="noStrike" spc="9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000" b="0" i="0" u="none" strike="noStrike" spc="900">
                <a:solidFill>
                  <a:srgbClr val="000000"/>
                </a:solidFill>
                <a:ea typeface="Pretendard SemiBold"/>
              </a:rPr>
              <a:t>모델링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04100" y="5194300"/>
            <a:ext cx="4864100" cy="201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en-US" sz="3000" b="1" i="0" u="none" strike="noStrike" spc="600" dirty="0">
                <a:solidFill>
                  <a:srgbClr val="11359A"/>
                </a:solidFill>
                <a:latin typeface="Pretendard Regular"/>
              </a:rPr>
              <a:t>2.1 </a:t>
            </a:r>
            <a:r>
              <a:rPr lang="ko-KR" sz="3000" b="1" i="0" u="none" strike="noStrike" spc="600" dirty="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3000" b="1" i="0" u="none" strike="noStrike" spc="6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 dirty="0">
                <a:solidFill>
                  <a:srgbClr val="000000"/>
                </a:solidFill>
                <a:ea typeface="Pretendard Regular"/>
              </a:rPr>
              <a:t>절차</a:t>
            </a:r>
            <a:r>
              <a:rPr lang="en-US" sz="3000" b="1" i="0" u="none" strike="noStrike" spc="6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 dirty="0">
                <a:solidFill>
                  <a:srgbClr val="000000"/>
                </a:solidFill>
                <a:ea typeface="Pretendard Regular"/>
              </a:rPr>
              <a:t>로드맵</a:t>
            </a:r>
          </a:p>
          <a:p>
            <a:pPr lvl="0" algn="l">
              <a:lnSpc>
                <a:spcPct val="107899"/>
              </a:lnSpc>
            </a:pPr>
            <a:r>
              <a:rPr lang="en-US" sz="3000" b="1" i="0" u="none" strike="noStrike" spc="600" dirty="0">
                <a:solidFill>
                  <a:srgbClr val="11359A"/>
                </a:solidFill>
                <a:latin typeface="Pretendard Regular"/>
              </a:rPr>
              <a:t>2.2 </a:t>
            </a:r>
            <a:r>
              <a:rPr lang="ko-KR" sz="3000" b="1" i="0" u="none" strike="noStrike" spc="600" dirty="0">
                <a:solidFill>
                  <a:srgbClr val="000000"/>
                </a:solidFill>
                <a:ea typeface="Pretendard Regular"/>
              </a:rPr>
              <a:t>활용</a:t>
            </a:r>
            <a:r>
              <a:rPr lang="en-US" sz="3000" b="1" i="0" u="none" strike="noStrike" spc="6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 dirty="0">
                <a:solidFill>
                  <a:srgbClr val="000000"/>
                </a:solidFill>
                <a:ea typeface="Pretendard Regular"/>
              </a:rPr>
              <a:t>데이터</a:t>
            </a:r>
          </a:p>
          <a:p>
            <a:pPr lvl="0" algn="l">
              <a:lnSpc>
                <a:spcPct val="107899"/>
              </a:lnSpc>
            </a:pPr>
            <a:r>
              <a:rPr lang="en-US" sz="3000" b="1" i="0" u="none" strike="noStrike" spc="600" dirty="0">
                <a:solidFill>
                  <a:srgbClr val="11359A"/>
                </a:solidFill>
                <a:latin typeface="Pretendard Regular"/>
              </a:rPr>
              <a:t>2.3 </a:t>
            </a:r>
            <a:r>
              <a:rPr lang="ko-KR" sz="3000" b="1" i="0" u="none" strike="noStrike" spc="600" dirty="0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3000" b="1" i="0" u="none" strike="noStrike" spc="6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 dirty="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3000" b="1" i="0" u="none" strike="noStrike" spc="600" dirty="0">
                <a:solidFill>
                  <a:srgbClr val="000000"/>
                </a:solidFill>
                <a:latin typeface="Pretendard Regular"/>
              </a:rPr>
              <a:t> (EDA)</a:t>
            </a:r>
          </a:p>
          <a:p>
            <a:pPr lvl="0" algn="l">
              <a:lnSpc>
                <a:spcPct val="107899"/>
              </a:lnSpc>
            </a:pPr>
            <a:r>
              <a:rPr lang="en-US" sz="3000" b="1" i="0" u="none" strike="noStrike" spc="600" dirty="0">
                <a:solidFill>
                  <a:srgbClr val="11359A"/>
                </a:solidFill>
                <a:latin typeface="Pretendard Regular"/>
              </a:rPr>
              <a:t>2.4 </a:t>
            </a:r>
            <a:r>
              <a:rPr lang="ko-KR" sz="3000" b="1" i="0" u="none" strike="noStrike" spc="600" dirty="0">
                <a:solidFill>
                  <a:srgbClr val="000000"/>
                </a:solidFill>
                <a:ea typeface="Pretendard Regular"/>
              </a:rPr>
              <a:t>모델링</a:t>
            </a:r>
            <a:r>
              <a:rPr lang="en-US" sz="3000" b="1" i="0" u="none" strike="noStrike" spc="6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 dirty="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000" b="1" i="0" u="none" strike="noStrike" spc="6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 dirty="0">
                <a:solidFill>
                  <a:srgbClr val="000000"/>
                </a:solidFill>
                <a:ea typeface="Pretendard Regular"/>
              </a:rPr>
              <a:t>예측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54737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절차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로드맵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세부절차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소개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09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44600" y="406400"/>
            <a:ext cx="10922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2.1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400" y="3644900"/>
            <a:ext cx="2565400" cy="393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0" y="3644900"/>
            <a:ext cx="2565400" cy="3937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644900"/>
            <a:ext cx="2565400" cy="393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700" y="3962400"/>
            <a:ext cx="13335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300" y="3962400"/>
            <a:ext cx="1333500" cy="133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3962400"/>
            <a:ext cx="1333500" cy="1333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502400" y="6045200"/>
            <a:ext cx="2362200" cy="1104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탄소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흡수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altLang="ko-KR" sz="1500" b="0" i="0" u="none" strike="noStrike" dirty="0">
                <a:solidFill>
                  <a:srgbClr val="000000"/>
                </a:solidFill>
                <a:ea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배출량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산정을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위한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데이터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필터링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모델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입력에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적합한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데이터형식으로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변환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0" y="5384800"/>
            <a:ext cx="2095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학습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데이터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구축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7300" y="5892800"/>
            <a:ext cx="2095500" cy="135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분석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시각화를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통한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b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</a:b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데이터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특성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확인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공간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시각화를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통한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b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</a:b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분포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확인</a:t>
            </a:r>
            <a:endParaRPr lang="en-US" sz="1500" b="0" i="0" u="none" strike="noStrike" dirty="0">
              <a:solidFill>
                <a:srgbClr val="000000"/>
              </a:solidFill>
              <a:latin typeface="Pretendard Light"/>
            </a:endParaRP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주요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변수</a:t>
            </a:r>
            <a:r>
              <a:rPr lang="en-US" sz="15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Pretendard Light"/>
              </a:rPr>
              <a:t>검토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57600" y="5397500"/>
            <a:ext cx="21209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탐색적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데이터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분석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3600" y="5842000"/>
            <a:ext cx="2095500" cy="1460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프로젝트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데이터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확보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결측값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이상값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처리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복합데이터로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병합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(MAPPING)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주요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특성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전처리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5200" y="5384800"/>
            <a:ext cx="16256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데이터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전처리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200" y="3644900"/>
            <a:ext cx="2565400" cy="3937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3962400"/>
            <a:ext cx="1333500" cy="1333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499600" y="6032500"/>
            <a:ext cx="23495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목표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해결을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위한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모델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선정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입력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데이터들을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복합적인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데이터로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병합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(MAPPING)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예측을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위한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모델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조건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정립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29800" y="5384800"/>
            <a:ext cx="16256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예측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모델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구축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900" y="3644900"/>
            <a:ext cx="2565400" cy="3937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3200" y="3962400"/>
            <a:ext cx="1333500" cy="1333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1300" y="4000500"/>
            <a:ext cx="1244600" cy="1244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2649200" y="6197600"/>
            <a:ext cx="20955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구축된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데이터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학습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모델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성능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평가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모델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예측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결과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평가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09500" y="5384800"/>
            <a:ext cx="2095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모델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학습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및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평가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700" y="3644900"/>
            <a:ext cx="2565400" cy="393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0" y="3962400"/>
            <a:ext cx="1333500" cy="13335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900" y="4216400"/>
            <a:ext cx="863600" cy="838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40100" y="4140200"/>
            <a:ext cx="1003300" cy="1003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900" y="4191000"/>
            <a:ext cx="876300" cy="8763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4700" y="4102100"/>
            <a:ext cx="1066800" cy="10668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0000" y="4178300"/>
            <a:ext cx="939800" cy="939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3009900" y="5461000"/>
            <a:ext cx="482600" cy="571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5943600" y="5473700"/>
            <a:ext cx="482600" cy="5715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8902700" y="5499100"/>
            <a:ext cx="482600" cy="5715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11874500" y="5499100"/>
            <a:ext cx="482600" cy="5715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14820900" y="5499100"/>
            <a:ext cx="482600" cy="5715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15709900" y="6223000"/>
            <a:ext cx="2082800" cy="82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모델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예측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결과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해석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예측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결과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시각화</a:t>
            </a:r>
          </a:p>
          <a:p>
            <a:pPr marL="342900" lvl="0" indent="-342900" algn="l">
              <a:lnSpc>
                <a:spcPct val="116199"/>
              </a:lnSpc>
              <a:buAutoNum type="arabicPeriod"/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특이사항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확인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722600" y="5384800"/>
            <a:ext cx="16256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예측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및</a:t>
            </a:r>
            <a:r>
              <a:rPr lang="en-US" sz="2000" b="0" i="0" u="none" strike="noStrike">
                <a:solidFill>
                  <a:srgbClr val="11359A"/>
                </a:solidFill>
                <a:latin typeface="Pretendard ExtraBold"/>
              </a:rPr>
              <a:t> </a:t>
            </a:r>
            <a:r>
              <a:rPr lang="ko-KR" sz="2000" b="0" i="0" u="none" strike="noStrike">
                <a:solidFill>
                  <a:srgbClr val="11359A"/>
                </a:solidFill>
                <a:ea typeface="Pretendard ExtraBold"/>
              </a:rPr>
              <a:t>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94022"/>
              </p:ext>
            </p:extLst>
          </p:nvPr>
        </p:nvGraphicFramePr>
        <p:xfrm>
          <a:off x="2133600" y="1460500"/>
          <a:ext cx="14109700" cy="83693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구분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상세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구분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항목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출처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전처리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목적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rowSpan="1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기존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데이터</a:t>
                      </a:r>
                      <a:b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제공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데이터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rowSpan="6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지역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특성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성연령별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거주인구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rowSpan="1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LH COMPAS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제공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이상치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제거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거주인구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독립변수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성연령별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유동인구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이상치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제거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유동인구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독립변수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상권정보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이상치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제거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지역별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정보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계산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주요상권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밀집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독립변수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임상도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이상치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제거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결측치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보간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녹지면적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&amp;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탄소배출량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보간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독립변수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도시잠재력지표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이상치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제거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지가경쟁력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사업체수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독립변수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토지이용계획도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격자단위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변환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토지이용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추출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특성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DRT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운행기록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통계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이상치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제거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미래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모빌리티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도입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분석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85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교통지표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추정교통량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혼잡빈도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시간강도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정상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혼잡시평균속도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이상치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제거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교통지표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독립변수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정보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분석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적용대상지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정리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공간분석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시각화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도로망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주요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상세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정리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공간분석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시각화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207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종속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변수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탄소배출량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전기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가스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난방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수송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단위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통합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탄소배출량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종속변수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탄소흡수량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단위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탄소흡수량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종속변수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1000"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595959"/>
                          </a:solidFill>
                          <a:ea typeface="Pretendard Regular"/>
                        </a:rPr>
                        <a:t>기타</a:t>
                      </a:r>
                      <a:r>
                        <a:rPr lang="en-US" sz="1600" b="0" i="0" u="none" strike="noStrike" dirty="0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595959"/>
                          </a:solidFill>
                          <a:ea typeface="Pretendard Regular"/>
                        </a:rPr>
                        <a:t>데이터</a:t>
                      </a:r>
                      <a:br>
                        <a:rPr lang="en-US" altLang="ko-KR" sz="1600" b="0" i="0" u="none" strike="noStrike" dirty="0">
                          <a:solidFill>
                            <a:srgbClr val="595959"/>
                          </a:solidFill>
                          <a:ea typeface="Pretendard Regular"/>
                        </a:rPr>
                      </a:br>
                      <a:r>
                        <a:rPr lang="en-US" sz="1600" b="0" i="0" u="none" strike="noStrike" dirty="0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600" b="0" i="0" u="none" strike="noStrike" dirty="0">
                          <a:solidFill>
                            <a:srgbClr val="595959"/>
                          </a:solidFill>
                          <a:ea typeface="Pretendard Regular"/>
                        </a:rPr>
                        <a:t>외부</a:t>
                      </a:r>
                      <a:r>
                        <a:rPr lang="en-US" sz="1600" b="0" i="0" u="none" strike="noStrike" dirty="0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595959"/>
                          </a:solidFill>
                          <a:ea typeface="Pretendard Regular"/>
                        </a:rPr>
                        <a:t>데이터</a:t>
                      </a:r>
                      <a:r>
                        <a:rPr lang="en-US" sz="1600" b="0" i="0" u="none" strike="noStrike" dirty="0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2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2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지역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특성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격자통계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사업체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종사자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통계지리정보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서비스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(SGIS)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– 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행정구역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수식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계산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사업체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당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종사자수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독립변수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활용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rowSpan="7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정보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서울특별시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송파구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 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행정구역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rowSpan="7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정리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매핑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rowSpan="7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공간분석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시각화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행정구역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면적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계산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인천광역시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서구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행정구역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207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경기도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성남시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수정구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행정구역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경기도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하남시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행정구역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경기도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화성시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행정구역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경기도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광명시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행정구역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경계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 dirty="0">
                          <a:solidFill>
                            <a:srgbClr val="595959"/>
                          </a:solidFill>
                          <a:ea typeface="Pretendard Regular"/>
                        </a:rPr>
                        <a:t>경기도</a:t>
                      </a:r>
                      <a:r>
                        <a:rPr lang="en-US" sz="1500" b="0" i="0" u="none" strike="noStrike" dirty="0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 dirty="0">
                          <a:solidFill>
                            <a:srgbClr val="595959"/>
                          </a:solidFill>
                          <a:ea typeface="Pretendard Regular"/>
                        </a:rPr>
                        <a:t>시흥시</a:t>
                      </a:r>
                      <a:r>
                        <a:rPr lang="en-US" sz="1500" b="0" i="0" u="none" strike="noStrike" dirty="0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 dirty="0">
                          <a:solidFill>
                            <a:srgbClr val="595959"/>
                          </a:solidFill>
                          <a:ea typeface="Pretendard Regular"/>
                        </a:rPr>
                        <a:t>행정구역</a:t>
                      </a:r>
                      <a:r>
                        <a:rPr lang="en-US" sz="1500" b="0" i="0" u="none" strike="noStrike" dirty="0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 dirty="0">
                          <a:solidFill>
                            <a:srgbClr val="595959"/>
                          </a:solidFill>
                          <a:ea typeface="Pretendard Regular"/>
                        </a:rPr>
                        <a:t>경계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2527300" y="482600"/>
            <a:ext cx="54737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활용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활용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소개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406400"/>
            <a:ext cx="12446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(EDA)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분석대상지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탄소배출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·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흡수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2.3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0" y="6350000"/>
            <a:ext cx="3441700" cy="2743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857500" y="2768600"/>
            <a:ext cx="8928100" cy="901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분석대상지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: 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동탄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1·2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신도시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위례신도시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하남미사강변도시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청라국제도시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수도권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교통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접근성과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자족기능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확보를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목표로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계획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개발된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신도시</a:t>
            </a:r>
          </a:p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분석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대상지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전기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·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가스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·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난방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·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)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흡수량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예측모델의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종속변수로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활용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예정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76600" y="2311400"/>
            <a:ext cx="4991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분석대상지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20200" y="9194800"/>
            <a:ext cx="49784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**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전기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·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가스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·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난방부문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그룹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강한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상관관계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존재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수송부문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&amp;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탄소흡수량은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상관관계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없음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57500" y="4673600"/>
            <a:ext cx="90424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영향요소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분석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예측모델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종속변수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탄소배출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흡수요인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)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상관관계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분석</a:t>
            </a:r>
          </a:p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흡수량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단위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tCO₂eq)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분포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불균형을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고려하여</a:t>
            </a:r>
            <a:r>
              <a:rPr lang="en-US" sz="1700" b="1" i="0" u="none" strike="noStrike">
                <a:solidFill>
                  <a:srgbClr val="11359A"/>
                </a:solidFill>
                <a:latin typeface="Pretendard Light"/>
              </a:rPr>
              <a:t> * </a:t>
            </a:r>
            <a:r>
              <a:rPr lang="ko-KR" sz="1700" b="1" i="0" u="none" strike="noStrike">
                <a:solidFill>
                  <a:srgbClr val="11359A"/>
                </a:solidFill>
                <a:ea typeface="Pretendard Light"/>
              </a:rPr>
              <a:t>로그변환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통한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데이터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분포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정규화</a:t>
            </a:r>
          </a:p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전력망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·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가스망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·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난방망의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상호작용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en-US" sz="1700" b="1" i="0" u="none" strike="noStrike">
                <a:solidFill>
                  <a:srgbClr val="11359A"/>
                </a:solidFill>
                <a:latin typeface="Pretendard Light"/>
              </a:rPr>
              <a:t>** </a:t>
            </a:r>
            <a:r>
              <a:rPr lang="ko-KR" sz="1700" b="1" i="0" u="none" strike="noStrike">
                <a:solidFill>
                  <a:srgbClr val="11359A"/>
                </a:solidFill>
                <a:ea typeface="Pretendard Light"/>
              </a:rPr>
              <a:t>각</a:t>
            </a:r>
            <a:r>
              <a:rPr lang="en-US" sz="17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700" b="1" i="0" u="none" strike="noStrike">
                <a:solidFill>
                  <a:srgbClr val="11359A"/>
                </a:solidFill>
                <a:ea typeface="Pretendard Light"/>
              </a:rPr>
              <a:t>변수간</a:t>
            </a:r>
            <a:r>
              <a:rPr lang="en-US" sz="17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700" b="1" i="0" u="none" strike="noStrike">
                <a:solidFill>
                  <a:srgbClr val="11359A"/>
                </a:solidFill>
                <a:ea typeface="Pretendard Light"/>
              </a:rPr>
              <a:t>상관관계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고려하여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변수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300" b="0" i="0" u="none" strike="noStrike">
                <a:solidFill>
                  <a:srgbClr val="000000"/>
                </a:solidFill>
                <a:latin typeface="Pretendard Light"/>
              </a:rPr>
              <a:t>(Wu et al., 2024)</a:t>
            </a:r>
          </a:p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수송부문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탄소흡수량은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데이터와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상관관계가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없으므로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구분하여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독립적으로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분석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4216400"/>
            <a:ext cx="3048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900" y="2324100"/>
            <a:ext cx="304800" cy="304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263900" y="4191000"/>
            <a:ext cx="70104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분석대상지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탄소배출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&amp;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탄소흡수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작업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0200" y="6045200"/>
            <a:ext cx="1485900" cy="1803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0800" y="6324600"/>
            <a:ext cx="3644900" cy="2743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400" y="7569200"/>
            <a:ext cx="1739900" cy="457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9400" y="2273300"/>
            <a:ext cx="1955800" cy="186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03300" y="2298700"/>
            <a:ext cx="1905000" cy="1955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11000" y="4165600"/>
            <a:ext cx="1841500" cy="1841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54100" y="4191000"/>
            <a:ext cx="1727200" cy="1828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4521200" y="9194800"/>
            <a:ext cx="49784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* 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정규화를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위한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로그변환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계산식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900" y="3619500"/>
            <a:ext cx="1752600" cy="1816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2.3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2832100"/>
            <a:ext cx="304800" cy="355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2819400"/>
            <a:ext cx="3175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8900" y="2857500"/>
            <a:ext cx="317500" cy="317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619500"/>
            <a:ext cx="2082800" cy="1854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6500" y="3594100"/>
            <a:ext cx="1841500" cy="1879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210300"/>
            <a:ext cx="1790700" cy="190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2700" y="6375400"/>
            <a:ext cx="1803400" cy="1739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49300" y="8636000"/>
            <a:ext cx="5181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주거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·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상업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·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업무지구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밀집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지역에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집중</a:t>
            </a:r>
          </a:p>
          <a:p>
            <a:pPr lvl="0" algn="ct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토지이용별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배출량의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선명한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대비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확인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1000" y="2819400"/>
            <a:ext cx="3949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SemiBold"/>
              </a:rPr>
              <a:t>통합</a:t>
            </a:r>
            <a:r>
              <a:rPr lang="en-US" sz="20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2000" b="0" i="0" u="none" strike="noStrike">
                <a:solidFill>
                  <a:srgbClr val="000000"/>
                </a:solidFill>
                <a:ea typeface="Pretendard SemiBold"/>
              </a:rPr>
              <a:t>전기</a:t>
            </a:r>
            <a:r>
              <a:rPr lang="en-US" sz="2000" b="0" i="0" u="none" strike="noStrike">
                <a:solidFill>
                  <a:srgbClr val="000000"/>
                </a:solidFill>
                <a:latin typeface="Pretendard SemiBold"/>
              </a:rPr>
              <a:t>·</a:t>
            </a:r>
            <a:r>
              <a:rPr lang="ko-KR" sz="2000" b="0" i="0" u="none" strike="noStrike">
                <a:solidFill>
                  <a:srgbClr val="000000"/>
                </a:solidFill>
                <a:ea typeface="Pretendard SemiBold"/>
              </a:rPr>
              <a:t>가스</a:t>
            </a:r>
            <a:r>
              <a:rPr lang="en-US" sz="2000" b="0" i="0" u="none" strike="noStrike">
                <a:solidFill>
                  <a:srgbClr val="000000"/>
                </a:solidFill>
                <a:latin typeface="Pretendard SemiBold"/>
              </a:rPr>
              <a:t>·</a:t>
            </a:r>
            <a:r>
              <a:rPr lang="ko-KR" sz="2000" b="0" i="0" u="none" strike="noStrike">
                <a:solidFill>
                  <a:srgbClr val="000000"/>
                </a:solidFill>
                <a:ea typeface="Pretendard SemiBold"/>
              </a:rPr>
              <a:t>난방</a:t>
            </a:r>
            <a:r>
              <a:rPr lang="en-US" sz="2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SemiBold"/>
              </a:rPr>
              <a:t>부문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SemiBold"/>
              </a:rPr>
              <a:t>) </a:t>
            </a:r>
            <a:r>
              <a:rPr lang="ko-KR" sz="2000" b="0" i="0" u="none" strike="noStrike">
                <a:solidFill>
                  <a:srgbClr val="000000"/>
                </a:solidFill>
                <a:ea typeface="Pretendard SemiBold"/>
              </a:rPr>
              <a:t>탄소배출량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(EDA)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분석대상지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탄소배출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·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흡수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9600" y="2857500"/>
            <a:ext cx="2159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SemiBold"/>
              </a:rPr>
              <a:t>수송부문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SemiBold"/>
              </a:rPr>
              <a:t>탄소배출량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14500" y="2857500"/>
            <a:ext cx="1371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SemiBold"/>
              </a:rPr>
              <a:t>탄소흡수량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2400" y="33909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동탄신도시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9900" y="54737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남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북광장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상권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주거단지에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분포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67200" y="34163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위례신도시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78200" y="54737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중앙광장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상권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주거단지에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분포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0000" y="59436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미사강변도시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9100" y="80899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미사역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상권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주거단지에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분포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27500" y="59436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청라국제도시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27400" y="81026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청라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문화공원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상권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주거단지에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분포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3000" y="2679700"/>
            <a:ext cx="38100" cy="6921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300" y="3644900"/>
            <a:ext cx="2082800" cy="17907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7251700" y="34036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동탄신도시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86500" y="54737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경부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순환고속도로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동부대로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96500" y="34163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위례신도시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07500" y="54864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순환고속도로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송파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IC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99300" y="59436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미사강변도시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48400" y="81026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미사대로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서울양양고속도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56800" y="59563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청라국제도시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56700" y="81153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공항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순환고속도로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중봉대로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6100" y="6223000"/>
            <a:ext cx="1790700" cy="19050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88500" y="6235700"/>
            <a:ext cx="1892300" cy="1879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63400" y="2692400"/>
            <a:ext cx="38100" cy="69215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6604000" y="8623300"/>
            <a:ext cx="5181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주요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간선도로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·IC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등이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포함된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격자를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따라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선형으로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분포</a:t>
            </a:r>
          </a:p>
          <a:p>
            <a:pPr lvl="0" algn="ct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교통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특성에서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통행량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기반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교통분석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필요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34900" y="3657600"/>
            <a:ext cx="2082800" cy="1841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28900" y="3644900"/>
            <a:ext cx="1841500" cy="18161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661900" y="6210300"/>
            <a:ext cx="1790700" cy="1905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78100" y="6388100"/>
            <a:ext cx="1892300" cy="17018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13042900" y="34290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동탄신도시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090400" y="54864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반석산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무봉산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녹지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900400" y="34544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위례신도시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998700" y="54737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남한산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녹지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위례근린공원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903200" y="59563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미사강변도시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103100" y="81280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미사한강공원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미사숲공원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760700" y="59690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청라국제도시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960600" y="8140700"/>
            <a:ext cx="2781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노을공원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가원숲공원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407900" y="8648700"/>
            <a:ext cx="5181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대규모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공원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·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수변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녹지가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포함된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격자에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집중</a:t>
            </a:r>
          </a:p>
          <a:p>
            <a:pPr lvl="0" algn="ct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전반적으로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분포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격자와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공간적으로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분리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2247900"/>
            <a:ext cx="266700" cy="26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4102100"/>
            <a:ext cx="2717800" cy="251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200" y="4114800"/>
            <a:ext cx="2273300" cy="251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300" y="6946900"/>
            <a:ext cx="2425700" cy="2400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6972300"/>
            <a:ext cx="2273300" cy="2336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3700" y="3670300"/>
            <a:ext cx="2451100" cy="116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500" y="5829300"/>
            <a:ext cx="2349500" cy="1143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1800" y="7823200"/>
            <a:ext cx="2298700" cy="1104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(EDA)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지역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특성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검토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거주인구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13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0" y="2654300"/>
            <a:ext cx="6121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공동주택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아파트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오피스텔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단지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중심으로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거주인구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밀집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외곽의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인접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지역은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상대적으로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인구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밀도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도시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내부의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인구밀도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차이는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교통수요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생활권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구조와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밀접한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연관을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가짐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55800" y="2209800"/>
            <a:ext cx="33147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분석대상지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거주인구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14600" y="38354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동탄신도시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83200" y="38735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위례신도시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4100" y="66675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미사강변도시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92700" y="66929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청라국제도시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26400" y="2616200"/>
            <a:ext cx="7531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거주인구와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탄소흡수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·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배출량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상관성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(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거주인구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: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종속변수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53700" y="7874000"/>
            <a:ext cx="69469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거주인구와의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거주인구의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FC3030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- 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거주인구를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탄소흡수량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24800" y="3111500"/>
            <a:ext cx="2628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0.714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26400" y="5257800"/>
            <a:ext cx="24638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0.193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39100" y="7251700"/>
            <a:ext cx="2438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0.057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28300" y="3746500"/>
            <a:ext cx="6756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거주인구와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명확한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(Positive)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인구가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많을수록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전기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가스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난방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에너지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기반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증가하는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경향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존재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거주인구를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통합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28300" y="5918200"/>
            <a:ext cx="6756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거주인구와의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거주인구의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D94925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-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거주인구를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수송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2260600"/>
            <a:ext cx="266700" cy="26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4165600"/>
            <a:ext cx="2730500" cy="2438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165600"/>
            <a:ext cx="2273300" cy="251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0" y="7035800"/>
            <a:ext cx="2260600" cy="237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900" y="7035800"/>
            <a:ext cx="2184400" cy="2374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(EDA)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지역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특성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검토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유동인구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14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200" y="2679700"/>
            <a:ext cx="63373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역세권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간선도로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주변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상업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업무시설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밀집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지역을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중심으로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높게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분포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거주인구보다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공간적으로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더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넓은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범위에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걸쳐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분포</a:t>
            </a:r>
          </a:p>
          <a:p>
            <a:pPr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유동인구는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교통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수요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상업활동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밀도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공공시설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접근성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등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다양한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도시기능과</a:t>
            </a:r>
            <a:r>
              <a:rPr lang="en-US" altLang="ko-KR" sz="1600" b="0" i="0" u="none" strike="noStrike" dirty="0">
                <a:solidFill>
                  <a:srgbClr val="000000"/>
                </a:solidFill>
                <a:ea typeface="Pretendard Light"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  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연계되며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 dirty="0" err="1">
                <a:solidFill>
                  <a:srgbClr val="000000"/>
                </a:solidFill>
                <a:ea typeface="Pretendard Light"/>
              </a:rPr>
              <a:t>비거주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기반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탄소배출의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주요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요인으로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작용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가능성</a:t>
            </a:r>
            <a:r>
              <a:rPr lang="en-US" altLang="ko-KR" sz="1600" dirty="0">
                <a:solidFill>
                  <a:srgbClr val="000000"/>
                </a:solidFill>
                <a:latin typeface="Pretendard Light"/>
                <a:ea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있음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55800" y="2222500"/>
            <a:ext cx="33147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분석대상지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유동인구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4600" y="38354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동탄신도시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83200" y="38735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위례신도시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4100" y="66675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미사강변도시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92700" y="66929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청라국제도시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26400" y="2616200"/>
            <a:ext cx="7531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유동인구와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탄소흡수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·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배출량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상관성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(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유동인구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: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종속변수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24800" y="3111500"/>
            <a:ext cx="2628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0.499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26400" y="5257800"/>
            <a:ext cx="24638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0.129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39100" y="7251700"/>
            <a:ext cx="2438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- 0.047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3700" y="3670300"/>
            <a:ext cx="2438400" cy="1168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5816600"/>
            <a:ext cx="2438400" cy="1168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0200" y="7861300"/>
            <a:ext cx="2413000" cy="1168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553700" y="7874000"/>
            <a:ext cx="69469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유동인구와의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유동인구의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FC3030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- 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유동인구를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탄소흡수량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28300" y="3746500"/>
            <a:ext cx="6756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유동인구와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(Positive)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유동인구가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많을수록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전기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가스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난방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에너지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기반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증가하는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경향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유동인구를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통합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28300" y="5918200"/>
            <a:ext cx="6756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유동인구와의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유동인구의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 - 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유동인구를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수송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(EDA)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지역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특성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검토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상권접근성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5300" y="2654300"/>
            <a:ext cx="60325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KDE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알고리즘을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분석대상지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밀집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계산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일정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거리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이상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분리된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도시별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중심점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개수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추출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주요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상권으로부터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떨어진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거리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(dist_to_hotspot_km)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계산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중심점은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상업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업무시설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밀집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지역에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분포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59000" y="2247900"/>
            <a:ext cx="38227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분석대상지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주요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상권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위치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14600" y="38354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동탄신도시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83200" y="38735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위례신도시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24100" y="66675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미사강변도시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2700" y="66929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청라국제도시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70800" y="2590800"/>
            <a:ext cx="7785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상권접근성과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탄소흡수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·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배출량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상관성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(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상권접근성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: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종속변수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9200" y="3111500"/>
            <a:ext cx="2628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- 0.452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70800" y="5257800"/>
            <a:ext cx="24638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- 0.154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83500" y="7251700"/>
            <a:ext cx="2438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- 0.067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600" y="4178300"/>
            <a:ext cx="2425700" cy="2044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4152900"/>
            <a:ext cx="2425700" cy="2057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800" y="7010400"/>
            <a:ext cx="2425700" cy="2044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7023100"/>
            <a:ext cx="2425700" cy="20447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185400" y="7874000"/>
            <a:ext cx="69469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상권접근성과의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상권접근성의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FC3030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- 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상권접근성을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탄소흡수량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72700" y="3746500"/>
            <a:ext cx="73787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상권접근성과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(Negative)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상권과의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거리가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적어질수록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전기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가스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난방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에너지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기반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증가하는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경향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상권접근성을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통합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72700" y="5918200"/>
            <a:ext cx="6756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상권접근성과의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상권접근성의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 - 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상권접근성을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수송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15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700" y="5816600"/>
            <a:ext cx="2413000" cy="1168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600" y="7810500"/>
            <a:ext cx="2438400" cy="1168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6200" y="3670300"/>
            <a:ext cx="2451100" cy="1168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7200" y="224790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(EDA)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지역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특성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검토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산업체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당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종사자수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5300" y="2781300"/>
            <a:ext cx="60325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업무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산업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상업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집적지에서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높은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산업체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종사자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분포를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역세권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간선도로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주변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복합용도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구역을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따라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고밀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근무자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패턴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전력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난방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사무기기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사용량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증가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→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에너지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기반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특성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59000" y="2349500"/>
            <a:ext cx="4356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분석대상지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주요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산업체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당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종사자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14600" y="38354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동탄신도시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83200" y="38735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위례신도시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24100" y="66675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미사강변도시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2700" y="66929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청라국제도시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94600" y="2616200"/>
            <a:ext cx="98933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산업체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당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종사자수과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탄소흡수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·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배출량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상관성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(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산업체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당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종사자수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: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종속변수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9200" y="3111500"/>
            <a:ext cx="2628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0.351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70800" y="5257800"/>
            <a:ext cx="24638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- 0.037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08900" y="7251700"/>
            <a:ext cx="2387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0.06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85400" y="7874000"/>
            <a:ext cx="69469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산업체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종사자수과의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산업체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종사자수의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FC3030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- 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산업체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당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종사자수를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탄소흡수량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72700" y="3746500"/>
            <a:ext cx="73787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산업체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종사자수과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(Negative)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종사자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많은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업무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산업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집적지일수록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증가하는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경향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존재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상권접근성을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통합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72700" y="5918200"/>
            <a:ext cx="6756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산업체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종사자수과의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산업체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종사자수의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 - 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산업체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당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종사자수를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수송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16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600" y="3657600"/>
            <a:ext cx="2489200" cy="1193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600" y="5803900"/>
            <a:ext cx="2514600" cy="1193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0" y="7797800"/>
            <a:ext cx="2501900" cy="1155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300" y="4114800"/>
            <a:ext cx="2590800" cy="2222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900" y="4229100"/>
            <a:ext cx="2159000" cy="2171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2300" y="6972300"/>
            <a:ext cx="2197100" cy="2286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0900" y="7010400"/>
            <a:ext cx="2324100" cy="223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2600" y="2374900"/>
            <a:ext cx="330200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(EDA)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지역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특성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검토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지가경쟁력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79600" y="2921000"/>
            <a:ext cx="6121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역세권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간선도로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 err="1">
                <a:solidFill>
                  <a:srgbClr val="000000"/>
                </a:solidFill>
                <a:ea typeface="Pretendard Light"/>
              </a:rPr>
              <a:t>교차부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상업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‧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업무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중심지에서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높은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지가경쟁력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분포를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외곽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주거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 dirty="0" err="1">
                <a:solidFill>
                  <a:srgbClr val="000000"/>
                </a:solidFill>
                <a:ea typeface="Pretendard Light"/>
              </a:rPr>
              <a:t>수변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산업지역으로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갈수록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지가가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급격히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낮아지는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방사형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패턴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고지가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구역은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탄소배출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 err="1">
                <a:solidFill>
                  <a:srgbClr val="000000"/>
                </a:solidFill>
                <a:ea typeface="Pretendard Light"/>
              </a:rPr>
              <a:t>핫스팟이자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탄소흡수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녹지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부족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지대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특성을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Light"/>
              </a:rPr>
              <a:t>가짐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3300" y="2514600"/>
            <a:ext cx="38227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분석대상지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지가경쟁력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43200" y="38735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동탄신도시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11800" y="39116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위례신도시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65400" y="65278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미사강변도시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21300" y="65532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청라국제도시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69300" y="2527300"/>
            <a:ext cx="7785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지가경쟁력과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탄소흡수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·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배출량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상관성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(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지가경쟁력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: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종속변수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67700" y="3162300"/>
            <a:ext cx="2628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0.324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0100" y="5308600"/>
            <a:ext cx="2374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- 0.163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2000" y="7302500"/>
            <a:ext cx="2438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- 0.283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96600" y="7937500"/>
            <a:ext cx="69469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지가경쟁력과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(Negative)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고지가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고밀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상권일수록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부족으로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흡수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능력이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낮아지는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경향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 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지가경쟁력을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탄소흡수량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71200" y="3797300"/>
            <a:ext cx="73787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지가경쟁력과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(Positive)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상업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업무핵이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밀집하고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지가가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높은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구역에서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증가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지가경쟁력을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통합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71200" y="5981700"/>
            <a:ext cx="6756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지가경쟁력과의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메우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지가경쟁력의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D94925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- 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지가경쟁력을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수송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17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4241800"/>
            <a:ext cx="2603500" cy="2082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100" y="4140200"/>
            <a:ext cx="2184400" cy="2222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900" y="6858000"/>
            <a:ext cx="2159000" cy="2159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1400" y="6883400"/>
            <a:ext cx="2286000" cy="2133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6900" y="2527300"/>
            <a:ext cx="368300" cy="368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600" y="3708400"/>
            <a:ext cx="2489200" cy="1193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300" y="5816600"/>
            <a:ext cx="2476500" cy="1193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7874000"/>
            <a:ext cx="24003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(EDA)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지역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특성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검토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녹지면적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68500" y="2959100"/>
            <a:ext cx="60325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완충녹지를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따라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넓은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규모의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집중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분포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상업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업무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중심지로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갈수록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규모가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급격히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줄어드는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패턴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24100" y="2514600"/>
            <a:ext cx="38227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분석대상지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녹지면적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06700" y="37084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동탄신도시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75300" y="3746500"/>
            <a:ext cx="914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위례신도시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16200" y="65405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미사강변도시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84800" y="6565900"/>
            <a:ext cx="1143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청라국제도시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0" y="2552700"/>
            <a:ext cx="7785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녹지면적과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탄소흡수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·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배출량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상관성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(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녹지면적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: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종속변수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8000" y="3238500"/>
            <a:ext cx="2628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- 0.073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67700" y="5283200"/>
            <a:ext cx="2374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- 0.067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42300" y="7277100"/>
            <a:ext cx="2438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상관계수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(PEARSON) : 0.962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44200" y="7899400"/>
            <a:ext cx="69469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녹지면적과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(Positive)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녹지면적이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늘어날수록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선형적으로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증가하는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경향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 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녹지면적을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탄소흡수량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31500" y="3873500"/>
            <a:ext cx="73787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녹지면적과의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녹지면적의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  - 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녹지면적을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통합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31500" y="5943600"/>
            <a:ext cx="6756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녹지면적과의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녹지면적의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D94925"/>
                </a:solidFill>
                <a:latin typeface="Pretendard Light"/>
              </a:rPr>
              <a:t> 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- 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지가경쟁력을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수송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채택하지</a:t>
            </a:r>
            <a:r>
              <a:rPr lang="en-US" sz="1600" b="1" i="0" u="none" strike="noStrike">
                <a:solidFill>
                  <a:srgbClr val="FC3030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FC3030"/>
                </a:solidFill>
                <a:ea typeface="Pretendard Light"/>
              </a:rPr>
              <a:t>않음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18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300" y="7848600"/>
            <a:ext cx="2400300" cy="1193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835900"/>
            <a:ext cx="2387600" cy="1181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3784600"/>
            <a:ext cx="2387600" cy="1143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300" y="5829300"/>
            <a:ext cx="2362200" cy="1143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9600" y="4013200"/>
            <a:ext cx="2603500" cy="2095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700" y="3987800"/>
            <a:ext cx="2082800" cy="2209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1700" y="6807200"/>
            <a:ext cx="2095500" cy="2374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7600" y="6946900"/>
            <a:ext cx="2197100" cy="2247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2565400"/>
            <a:ext cx="2794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(EDA)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지역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특성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검토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토지이용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5600" y="6934200"/>
            <a:ext cx="6032500" cy="901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분석대상지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격자별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700" b="0" i="0" u="none" strike="noStrike">
                <a:solidFill>
                  <a:srgbClr val="11359A"/>
                </a:solidFill>
                <a:latin typeface="Pretendard Light"/>
              </a:rPr>
              <a:t>* </a:t>
            </a:r>
            <a:r>
              <a:rPr lang="ko-KR" sz="1700" b="1" i="0" u="none" strike="noStrike">
                <a:solidFill>
                  <a:srgbClr val="11359A"/>
                </a:solidFill>
                <a:ea typeface="Pretendard Light"/>
              </a:rPr>
              <a:t>토지이용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비율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산정하여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토지이용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특성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정량화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격자별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용도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구성비를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종속변수로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설정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탄소배출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/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)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b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</a:b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   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탄소흡수량과의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피어슨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상관계수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도출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17700" y="3327400"/>
            <a:ext cx="38227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분석대상지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토지이용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1800" y="6451600"/>
            <a:ext cx="19685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분석대상지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이용계획도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48600" y="2400300"/>
            <a:ext cx="92710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토지이용과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탄소흡수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·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배출량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상관성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(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토지이용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: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종속변수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62900" y="3009900"/>
            <a:ext cx="26289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89900" y="5130800"/>
            <a:ext cx="23749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51800" y="7251700"/>
            <a:ext cx="2438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83900" y="7670800"/>
            <a:ext cx="69469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·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녹지비율과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(Positive)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·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녹지비율이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높을수록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증가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경향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불투수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면적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비율은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반대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경향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토지이용의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 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공원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·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녹지비율을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탄소흡수량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71200" y="3479800"/>
            <a:ext cx="73787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단독주택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비율과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(Positive)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단독주택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비율이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높을수록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증가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경향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주택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난방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전력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소비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토지이용의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 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단독주택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비율을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탄소흡수량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71200" y="5676900"/>
            <a:ext cx="67564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도로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비율과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(Positive)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도로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비율이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높을수록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수송부문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증가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경향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토지이용의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 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도로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비율을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수송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19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0" y="4851400"/>
            <a:ext cx="673100" cy="673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0" y="5257800"/>
            <a:ext cx="1181100" cy="1168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0" y="3987800"/>
            <a:ext cx="1231900" cy="1282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013200"/>
            <a:ext cx="1333500" cy="1168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0100" y="5321300"/>
            <a:ext cx="1155700" cy="1117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600" y="3276600"/>
            <a:ext cx="2717800" cy="1625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8600" y="5422900"/>
            <a:ext cx="2717800" cy="1625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8600" y="3314700"/>
            <a:ext cx="342900" cy="342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0800" y="3937000"/>
            <a:ext cx="1270000" cy="1206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1600" y="3937000"/>
            <a:ext cx="1181100" cy="1206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2400" y="5232400"/>
            <a:ext cx="1257300" cy="1244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4300" y="5194300"/>
            <a:ext cx="1168400" cy="1244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48600" y="7543800"/>
            <a:ext cx="2717800" cy="16256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4876800" y="6477000"/>
            <a:ext cx="19685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분석대상지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격자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65300" y="7924800"/>
            <a:ext cx="539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*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공동주택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상업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산업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공원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녹지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단독주택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도로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하천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기타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거주인구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(EDA)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교통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특성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검토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2800" y="2552700"/>
            <a:ext cx="38227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분석대상지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교통특성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19300" y="5740400"/>
            <a:ext cx="19685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분석대상지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도로망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12100" y="2603500"/>
            <a:ext cx="92710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교통특성과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탄소흡수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·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배출량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상관성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(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토지이용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 : </a:t>
            </a:r>
            <a:r>
              <a:rPr lang="ko-KR" sz="2200" b="1" i="0" u="none" strike="noStrike">
                <a:solidFill>
                  <a:srgbClr val="000000"/>
                </a:solidFill>
                <a:ea typeface="Pretendard SemiBold"/>
              </a:rPr>
              <a:t>종속변수</a:t>
            </a:r>
            <a:r>
              <a:rPr lang="en-US" sz="2200" b="1" i="0" u="none" strike="noStrike">
                <a:solidFill>
                  <a:srgbClr val="000000"/>
                </a:solidFill>
                <a:latin typeface="Pretendard SemiBold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93200" y="3124200"/>
            <a:ext cx="15367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99900" y="3124200"/>
            <a:ext cx="1397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36800" y="3124200"/>
            <a:ext cx="9906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43900" y="4889500"/>
            <a:ext cx="8534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모든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교통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특성이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(Positive)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모든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교통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특성은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탄소흡수량과는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 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혼잡빈도강도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혼잡시간강도를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제외한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모든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교통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특성을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수송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00" y="4127500"/>
            <a:ext cx="673100" cy="673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4406900"/>
            <a:ext cx="12065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2997200"/>
            <a:ext cx="1422400" cy="1371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060700"/>
            <a:ext cx="1536700" cy="1282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600" y="4406900"/>
            <a:ext cx="1320800" cy="1219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9100" y="2590800"/>
            <a:ext cx="266700" cy="266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7100" y="2946400"/>
            <a:ext cx="1358900" cy="1320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4100" y="2908300"/>
            <a:ext cx="1333500" cy="1397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305300"/>
            <a:ext cx="1320800" cy="1384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4394200"/>
            <a:ext cx="1257300" cy="1206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1800" y="6985000"/>
            <a:ext cx="2984500" cy="1257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3100" y="3390900"/>
            <a:ext cx="8572500" cy="1384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7700" y="6477000"/>
            <a:ext cx="8585200" cy="1384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5105400" y="5753100"/>
            <a:ext cx="19685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교통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특성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59300" y="4038600"/>
            <a:ext cx="29210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ko-KR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ea typeface="Pretendard Light"/>
              </a:rPr>
              <a:t>교통량</a:t>
            </a:r>
            <a:r>
              <a:rPr lang="en-US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latin typeface="Pretendard Light"/>
              </a:rPr>
              <a:t> (</a:t>
            </a:r>
            <a:r>
              <a:rPr lang="ko-KR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ea typeface="Pretendard Light"/>
              </a:rPr>
              <a:t>승용차</a:t>
            </a:r>
            <a:r>
              <a:rPr lang="en-US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latin typeface="Pretendard Light"/>
              </a:rPr>
              <a:t>, </a:t>
            </a:r>
            <a:r>
              <a:rPr lang="ko-KR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ea typeface="Pretendard Light"/>
              </a:rPr>
              <a:t>버스</a:t>
            </a:r>
            <a:r>
              <a:rPr lang="en-US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latin typeface="Pretendard Light"/>
              </a:rPr>
              <a:t>, </a:t>
            </a:r>
            <a:r>
              <a:rPr lang="ko-KR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ea typeface="Pretendard Light"/>
              </a:rPr>
              <a:t>화물차</a:t>
            </a:r>
            <a:r>
              <a:rPr lang="en-US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  <a:p>
            <a:pPr lvl="0" algn="ctr">
              <a:lnSpc>
                <a:spcPct val="149400"/>
              </a:lnSpc>
            </a:pPr>
            <a:r>
              <a:rPr lang="en-US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latin typeface="Pretendard Light"/>
              </a:rPr>
              <a:t>* </a:t>
            </a:r>
            <a:r>
              <a:rPr lang="ko-KR" sz="1600" b="1" i="0" u="none" strike="noStrike">
                <a:solidFill>
                  <a:srgbClr val="11359A"/>
                </a:solidFill>
                <a:highlight>
                  <a:srgbClr val="CCD2F0"/>
                </a:highlight>
                <a:ea typeface="Pretendard Light"/>
              </a:rPr>
              <a:t>가중혼잡도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78000" y="6235700"/>
            <a:ext cx="61722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교통지표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2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종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교통량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, </a:t>
            </a:r>
            <a:r>
              <a:rPr lang="en-US" sz="1700" b="1" i="0" u="none" strike="noStrike">
                <a:solidFill>
                  <a:srgbClr val="11359A"/>
                </a:solidFill>
                <a:latin typeface="Pretendard Light"/>
              </a:rPr>
              <a:t>* </a:t>
            </a:r>
            <a:r>
              <a:rPr lang="ko-KR" sz="1700" b="1" i="0" u="none" strike="noStrike">
                <a:solidFill>
                  <a:srgbClr val="11359A"/>
                </a:solidFill>
                <a:ea typeface="Pretendard Light"/>
              </a:rPr>
              <a:t>가중혼잡도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격자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단위로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산정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통행량이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높은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역세권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간선도로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축에서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교통량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혼잡도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집중</a:t>
            </a:r>
            <a:r>
              <a:rPr 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Light"/>
              </a:rPr>
              <a:t>분포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52700" y="8242300"/>
            <a:ext cx="38735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*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가중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혼잡도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계산식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b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</a:br>
            <a:r>
              <a:rPr lang="en-US" sz="1300" b="1" i="0" u="none" strike="noStrike">
                <a:solidFill>
                  <a:srgbClr val="11359A"/>
                </a:solidFill>
                <a:latin typeface="Pretendard Light"/>
              </a:rPr>
              <a:t>  (</a:t>
            </a:r>
            <a:r>
              <a:rPr lang="ko-KR" sz="1300" b="1" i="0" u="none" strike="noStrike">
                <a:solidFill>
                  <a:srgbClr val="11359A"/>
                </a:solidFill>
                <a:ea typeface="Pretendard Light"/>
              </a:rPr>
              <a:t>도로용량</a:t>
            </a:r>
            <a:r>
              <a:rPr lang="en-US" sz="13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300" b="1" i="0" u="none" strike="noStrike">
                <a:solidFill>
                  <a:srgbClr val="11359A"/>
                </a:solidFill>
                <a:ea typeface="Pretendard Light"/>
              </a:rPr>
              <a:t>출처</a:t>
            </a:r>
            <a:r>
              <a:rPr lang="en-US" sz="1300" b="1" i="0" u="none" strike="noStrike">
                <a:solidFill>
                  <a:srgbClr val="11359A"/>
                </a:solidFill>
                <a:latin typeface="Pretendard Light"/>
              </a:rPr>
              <a:t> : HCM, </a:t>
            </a:r>
            <a:r>
              <a:rPr lang="ko-KR" sz="1300" b="1" i="0" u="none" strike="noStrike">
                <a:solidFill>
                  <a:srgbClr val="11359A"/>
                </a:solidFill>
                <a:ea typeface="Pretendard Light"/>
              </a:rPr>
              <a:t>국토교통부</a:t>
            </a:r>
            <a:r>
              <a:rPr lang="en-US" sz="13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300" b="1" i="0" u="none" strike="noStrike">
                <a:solidFill>
                  <a:srgbClr val="11359A"/>
                </a:solidFill>
                <a:ea typeface="Pretendard Light"/>
              </a:rPr>
              <a:t>설계기준</a:t>
            </a:r>
            <a:r>
              <a:rPr lang="en-US" sz="1300" b="1" i="0" u="none" strike="noStrike">
                <a:solidFill>
                  <a:srgbClr val="11359A"/>
                </a:solidFill>
                <a:latin typeface="Pretendard Light"/>
              </a:rPr>
              <a:t>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55100" y="6210300"/>
            <a:ext cx="15367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849100" y="6210300"/>
            <a:ext cx="1397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998700" y="6210300"/>
            <a:ext cx="9906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05800" y="7975600"/>
            <a:ext cx="8534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모든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교통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특성이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(Positive)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상관관계를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모든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교통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특성은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탄소흡수량과는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직접적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연결성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낮음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공간적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불일치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 -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혼잡빈도강도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,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혼잡시간강도를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제외한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모든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교통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특성을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탄소배출량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(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수송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)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예측모델의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입력변수로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채택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0" y="6413500"/>
            <a:ext cx="7924800" cy="87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6426200"/>
            <a:ext cx="3492500" cy="86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3390900"/>
            <a:ext cx="8216900" cy="87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3390900"/>
            <a:ext cx="34925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700" y="3530600"/>
            <a:ext cx="571500" cy="57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0" y="4876800"/>
            <a:ext cx="7924800" cy="87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모델링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예측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학습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예측모델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구성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확인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96000" y="3530600"/>
            <a:ext cx="3136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MODEL 1</a:t>
            </a:r>
          </a:p>
          <a:p>
            <a:pPr lvl="0" algn="ctr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탄소배출량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통합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) 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예측모델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4889500"/>
            <a:ext cx="3492500" cy="863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6565900"/>
            <a:ext cx="571500" cy="57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4749800"/>
            <a:ext cx="1320800" cy="1320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alphaModFix amt="47000"/>
          </a:blip>
          <a:stretch>
            <a:fillRect/>
          </a:stretch>
        </p:blipFill>
        <p:spPr>
          <a:xfrm rot="5400000">
            <a:off x="2438400" y="4216400"/>
            <a:ext cx="4813300" cy="2197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070600" y="5029200"/>
            <a:ext cx="3136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MODEL 2</a:t>
            </a:r>
          </a:p>
          <a:p>
            <a:pPr lvl="0" algn="ctr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탄소배출량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수송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) 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예측모델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07500" y="3467100"/>
            <a:ext cx="73914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Medium"/>
              </a:rPr>
              <a:t>독립변수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Medium"/>
              </a:rPr>
              <a:t> -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거주인구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유동인구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상권접근성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산업체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당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종사자수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, 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지가경쟁력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단독주택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비율</a:t>
            </a:r>
          </a:p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Medium"/>
              </a:rPr>
              <a:t>종속변수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Medium"/>
              </a:rPr>
              <a:t> -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탄소배출량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통합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58300" y="6578600"/>
            <a:ext cx="4381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Medium"/>
              </a:rPr>
              <a:t>독립변수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Medium"/>
              </a:rPr>
              <a:t> -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지가경쟁력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공원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비율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녹지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비율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녹지면적</a:t>
            </a:r>
          </a:p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Medium"/>
              </a:rPr>
              <a:t>종속변수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Medium"/>
              </a:rPr>
              <a:t> -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탄소흡수량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45600" y="5016500"/>
            <a:ext cx="4279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Medium"/>
              </a:rPr>
              <a:t>독립변수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Medium"/>
              </a:rPr>
              <a:t> -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도로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비율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통합교통량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가중혼잡도</a:t>
            </a:r>
          </a:p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Medium"/>
              </a:rPr>
              <a:t>종속변수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Medium"/>
              </a:rPr>
              <a:t> - 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탄소배출량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1500" b="0" i="0" u="none" strike="noStrike">
                <a:solidFill>
                  <a:srgbClr val="000000"/>
                </a:solidFill>
                <a:ea typeface="Pretendard Medium"/>
              </a:rPr>
              <a:t>통합</a:t>
            </a: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</a:rPr>
              <a:t>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7200" y="6286500"/>
            <a:ext cx="312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SemiBold"/>
              </a:rPr>
              <a:t>전처리된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SemiBold"/>
              </a:rPr>
              <a:t>지역</a:t>
            </a:r>
            <a:r>
              <a:rPr lang="en-US" sz="1600" b="0" i="0" u="none" strike="noStrike">
                <a:solidFill>
                  <a:srgbClr val="000000"/>
                </a:solidFill>
                <a:latin typeface="Pretendard SemiBold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SemiBold"/>
              </a:rPr>
              <a:t>교통</a:t>
            </a:r>
            <a:r>
              <a:rPr lang="en-US" sz="1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SemiBold"/>
              </a:rPr>
              <a:t>특성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SemiBold"/>
              </a:rPr>
              <a:t>통합</a:t>
            </a:r>
          </a:p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SemiBold"/>
              </a:rPr>
              <a:t>학습데이터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SemiBold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SemiBold"/>
              </a:rPr>
              <a:t>학습</a:t>
            </a:r>
            <a:r>
              <a:rPr lang="en-US" sz="1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SemiBold"/>
              </a:rPr>
              <a:t>준비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19800" y="6565900"/>
            <a:ext cx="3136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MODEL 3</a:t>
            </a:r>
          </a:p>
          <a:p>
            <a:pPr lvl="0" algn="ctr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탄소흡수량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예측모델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21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700" y="5029200"/>
            <a:ext cx="571500" cy="571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2844800"/>
            <a:ext cx="279400" cy="279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6184900" y="2806700"/>
            <a:ext cx="54356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모델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변수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구성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확인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모델링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예측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예측모델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선정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22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7734300"/>
            <a:ext cx="2108200" cy="1270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00" y="5270500"/>
            <a:ext cx="25527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5130800"/>
            <a:ext cx="2247900" cy="1409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7670800"/>
            <a:ext cx="1905000" cy="130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4800" y="2476500"/>
            <a:ext cx="1524000" cy="1397000"/>
          </a:xfrm>
          <a:prstGeom prst="rect">
            <a:avLst/>
          </a:prstGeom>
        </p:spPr>
      </p:pic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8636000" y="2857500"/>
          <a:ext cx="8293100" cy="5753100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예측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항목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모델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종류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R²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MAE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RMSE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탄솝탄소배출량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통합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Random Forest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0.701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0.607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0.799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Gradient Boosting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0.696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0.597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0.806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Ridge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0.462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0.825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1.073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Linear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0.462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0.825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1.073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탄소배출량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수송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Random Forest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0.915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0.025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0.144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Gradient Boosting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0.901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0.025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0.156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Ridge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0.42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0.165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0.377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Linear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0.42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0.165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0.377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탄소흡수량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Random Forest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0.934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0.396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1.423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Gradient Boosting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0.934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0.397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1.423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Ridge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0.927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0.413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1.498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45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Linear Regressor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0.92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0.424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1.562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333500" y="4432300"/>
            <a:ext cx="59055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Regular"/>
              </a:rPr>
              <a:t>다중회귀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(Multiple Regression Models)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73500" y="4851400"/>
            <a:ext cx="42545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Regular"/>
              </a:rPr>
              <a:t>2. Gradient Boosting Regressor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8600" y="4851400"/>
            <a:ext cx="42545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Regular"/>
              </a:rPr>
              <a:t>1. Random Forest Regressor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73500" y="7315200"/>
            <a:ext cx="42545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Regular"/>
              </a:rPr>
              <a:t>4. Linear Regressor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8600" y="7302500"/>
            <a:ext cx="42545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Regular"/>
              </a:rPr>
              <a:t>3. Ridge Regressor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48200" y="6400800"/>
            <a:ext cx="27559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메모리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효율적</a:t>
            </a:r>
          </a:p>
          <a:p>
            <a:pPr lvl="0" algn="l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적은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데이터로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높은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예측성능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제공</a:t>
            </a:r>
          </a:p>
          <a:p>
            <a:pPr lvl="0" algn="l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비선형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관계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효과적으로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학습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4100" y="6629400"/>
            <a:ext cx="2933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비교적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빠른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학습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속도</a:t>
            </a:r>
          </a:p>
          <a:p>
            <a:pPr lvl="0" algn="l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데이터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크기가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중간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규모일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때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효과적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7000" y="9131300"/>
            <a:ext cx="2247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빠른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학습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소요시간</a:t>
            </a:r>
          </a:p>
          <a:p>
            <a:pPr lvl="0" algn="l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간단한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모델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해석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4100" y="9118600"/>
            <a:ext cx="2933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과적합을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줄이고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일반화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성능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향상</a:t>
            </a:r>
          </a:p>
          <a:p>
            <a:pPr lvl="0" algn="l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적절한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정규화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강도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(α)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설정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매우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Light"/>
              </a:rPr>
              <a:t>중요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74800" y="2070100"/>
            <a:ext cx="54356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예측모델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선정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작업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: VIF(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다중공선성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62300" y="2527300"/>
            <a:ext cx="3810000" cy="133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독립변수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중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다중공선성이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기준치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(VIF &gt; 50)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를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       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초과하는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변수가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없음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(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통합변수들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제외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변수제거작업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없이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모델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투입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준비완료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학습데이터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표준화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(Standardscaler)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후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b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</a:b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   *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적정모델</a:t>
            </a: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500" b="1" i="0" u="none" strike="noStrike">
                <a:solidFill>
                  <a:srgbClr val="11359A"/>
                </a:solidFill>
                <a:ea typeface="Pretendard Light"/>
              </a:rPr>
              <a:t>선정작업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진행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61400" y="2463800"/>
            <a:ext cx="52451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00" b="1" i="0" u="none" strike="noStrike">
                <a:solidFill>
                  <a:srgbClr val="11359A"/>
                </a:solidFill>
                <a:latin typeface="Pretendard Regular"/>
              </a:rPr>
              <a:t>* </a:t>
            </a:r>
            <a:r>
              <a:rPr lang="ko-KR" sz="1700" b="1" i="0" u="none" strike="noStrike">
                <a:solidFill>
                  <a:srgbClr val="11359A"/>
                </a:solidFill>
                <a:ea typeface="Pretendard Regular"/>
              </a:rPr>
              <a:t>적정모델</a:t>
            </a:r>
            <a:r>
              <a:rPr lang="en-US" sz="1700" b="1" i="0" u="none" strike="noStrike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1700" b="1" i="0" u="none" strike="noStrike">
                <a:solidFill>
                  <a:srgbClr val="11359A"/>
                </a:solidFill>
                <a:ea typeface="Pretendard Regular"/>
              </a:rPr>
              <a:t>선정작업</a:t>
            </a:r>
            <a:r>
              <a:rPr lang="en-US" sz="1700" b="1" i="0" u="none" strike="noStrike">
                <a:solidFill>
                  <a:srgbClr val="11359A"/>
                </a:solidFill>
                <a:latin typeface="Pretendard Regular"/>
              </a:rPr>
              <a:t> (</a:t>
            </a:r>
            <a:r>
              <a:rPr lang="ko-KR" sz="1700" b="1" i="0" u="none" strike="noStrike">
                <a:solidFill>
                  <a:srgbClr val="11359A"/>
                </a:solidFill>
                <a:ea typeface="Pretendard Regular"/>
              </a:rPr>
              <a:t>다중회귀모델</a:t>
            </a:r>
            <a:r>
              <a:rPr lang="en-US" sz="1700" b="1" i="0" u="none" strike="noStrike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1700" b="1" i="0" u="none" strike="noStrike">
                <a:solidFill>
                  <a:srgbClr val="11359A"/>
                </a:solidFill>
                <a:ea typeface="Pretendard Regular"/>
              </a:rPr>
              <a:t>예측성능</a:t>
            </a:r>
            <a:r>
              <a:rPr lang="en-US" sz="1700" b="1" i="0" u="none" strike="noStrike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1700" b="1" i="0" u="none" strike="noStrike">
                <a:solidFill>
                  <a:srgbClr val="11359A"/>
                </a:solidFill>
                <a:ea typeface="Pretendard Regular"/>
              </a:rPr>
              <a:t>비교표</a:t>
            </a:r>
            <a:r>
              <a:rPr lang="en-US" sz="1700" b="1" i="0" u="none" strike="noStrike">
                <a:solidFill>
                  <a:srgbClr val="11359A"/>
                </a:solidFill>
                <a:latin typeface="Pretendard Regular"/>
              </a:rPr>
              <a:t>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61400" y="8686800"/>
            <a:ext cx="86487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세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가지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종속변수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모두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Random Forest Regressor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모델에서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가장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좋은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성능을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 -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예측모델에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가장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적합할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것으로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판단되는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8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Random Forest Regressor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Light"/>
              </a:rPr>
              <a:t>선정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모델링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예측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예측모델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학습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모니터링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2.4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2654300"/>
            <a:ext cx="7531100" cy="209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81200"/>
            <a:ext cx="304800" cy="304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255000" y="1930400"/>
            <a:ext cx="54356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실제값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정답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) :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예측값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모델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추정값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)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비교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96300" y="4775200"/>
            <a:ext cx="69977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모델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모두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예측력이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우수하며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RandomForest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모델이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적절하게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학습된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것으로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판단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특히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예측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성능이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높음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예측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성능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향상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위한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변수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추가작업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필요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도로면적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교차로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속도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제한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인구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23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48700" y="2387600"/>
            <a:ext cx="15367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7600" y="2387600"/>
            <a:ext cx="1397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82700" y="2387600"/>
            <a:ext cx="9906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21700" y="6489700"/>
            <a:ext cx="15367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통합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37900" y="6489700"/>
            <a:ext cx="13970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탄소배출량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(</a:t>
            </a: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수송</a:t>
            </a:r>
            <a:r>
              <a:rPr lang="en-US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Light"/>
              </a:rPr>
              <a:t>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33500" y="6489700"/>
            <a:ext cx="9906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1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Light"/>
              </a:rPr>
              <a:t>탄소흡수량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09000" y="6019800"/>
            <a:ext cx="54356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예측과정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중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변수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SHAP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중요도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가중치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)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비교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78900" y="8382000"/>
            <a:ext cx="60198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단독주택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비율과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사업체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종사자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주요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영향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요인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전체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교통량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혼잡도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도로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비율이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고르게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기여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거의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녹지면적에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의해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설명됨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다른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변수의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영향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미미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6070600"/>
            <a:ext cx="304800" cy="304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300" y="6451600"/>
            <a:ext cx="3492500" cy="863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300" y="3416300"/>
            <a:ext cx="3492500" cy="863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300" y="3556000"/>
            <a:ext cx="571500" cy="571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3022600" y="3556000"/>
            <a:ext cx="3136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MODEL 1</a:t>
            </a:r>
          </a:p>
          <a:p>
            <a:pPr lvl="0" algn="ctr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탄소배출량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통합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) 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예측모델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300" y="4914900"/>
            <a:ext cx="3492500" cy="863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900" y="6591300"/>
            <a:ext cx="571500" cy="571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984500" y="5054600"/>
            <a:ext cx="3136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MODEL 2</a:t>
            </a:r>
          </a:p>
          <a:p>
            <a:pPr lvl="0" algn="ctr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탄소배출량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수송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) 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예측모델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946400" y="6591300"/>
            <a:ext cx="3136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MODEL 3</a:t>
            </a:r>
          </a:p>
          <a:p>
            <a:pPr lvl="0" algn="ctr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탄소흡수량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예측모델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300" y="5054600"/>
            <a:ext cx="571500" cy="571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6">
            <a:alphaModFix amt="47000"/>
          </a:blip>
          <a:stretch>
            <a:fillRect/>
          </a:stretch>
        </p:blipFill>
        <p:spPr>
          <a:xfrm rot="-5400000">
            <a:off x="4597400" y="4254500"/>
            <a:ext cx="4813300" cy="2273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6870700"/>
            <a:ext cx="2425700" cy="1257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62000" y="6921500"/>
            <a:ext cx="2400300" cy="1257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3400" y="6921500"/>
            <a:ext cx="23622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모델링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예측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적용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대상지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구축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예측준비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97300" y="4838700"/>
            <a:ext cx="1676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적용대상지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5168900"/>
            <a:ext cx="2133600" cy="4089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5143500"/>
            <a:ext cx="2438400" cy="398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118100"/>
            <a:ext cx="2146300" cy="4089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0200" y="5118100"/>
            <a:ext cx="2222500" cy="410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19100" y="5181600"/>
            <a:ext cx="1981200" cy="403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700" y="2628900"/>
            <a:ext cx="317500" cy="317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172200" y="4838700"/>
            <a:ext cx="1676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거주인구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95700" y="9258300"/>
            <a:ext cx="19685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토지이용계획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전처리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21400" y="9283700"/>
            <a:ext cx="1968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토지이용계획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활용</a:t>
            </a:r>
            <a:br>
              <a:rPr lang="ko-KR" sz="1600" b="0" i="0" u="none" strike="noStrike">
                <a:solidFill>
                  <a:srgbClr val="000000"/>
                </a:solidFill>
                <a:ea typeface="Pretendard Light"/>
              </a:rPr>
            </a:b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면적에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따라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비례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배분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07400" y="4838700"/>
            <a:ext cx="1676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통합교통량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56600" y="9283700"/>
            <a:ext cx="1968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랜덤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포레스트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예측</a:t>
            </a:r>
            <a:br>
              <a:rPr lang="ko-KR" sz="1600" b="0" i="0" u="none" strike="noStrike">
                <a:solidFill>
                  <a:srgbClr val="000000"/>
                </a:solidFill>
                <a:ea typeface="Pretendard Light"/>
              </a:rPr>
            </a:b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도로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면적에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따른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값보정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66400" y="92710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랜덤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포레스트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예측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54500" y="2603500"/>
            <a:ext cx="54356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적용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대상지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활용가능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변수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제작과정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69600" y="4838700"/>
            <a:ext cx="1524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가중혼잡도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22300" y="4838700"/>
            <a:ext cx="1524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녹지면적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42900" y="9271000"/>
            <a:ext cx="21336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랜덤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포레스트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예측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22700" y="3048000"/>
            <a:ext cx="86614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제공된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데이터로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한계가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있어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랜덤포레스트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회귀로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변수제작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변수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중요도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참고하여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필요한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변수만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제작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예측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수행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)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예측모델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필요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변수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: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거주인구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사업체당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종사자수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단독주택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비율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)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예측모델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필요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변수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: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전체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교통량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혼잡도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도로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비율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탄소흡수량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예측모델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필요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변수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: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녹지면적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공원</a:t>
            </a:r>
            <a:r>
              <a:rPr lang="en-US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highlight>
                  <a:srgbClr val="DFE4F1"/>
                </a:highlight>
                <a:ea typeface="Pretendard Light"/>
              </a:rPr>
              <a:t>비율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모델링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예측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예측결과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확인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2.4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8900" y="3200400"/>
            <a:ext cx="29591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적용대상지</a:t>
            </a:r>
            <a:r>
              <a:rPr lang="en-US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입력변수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3581400"/>
            <a:ext cx="2133600" cy="4089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3594100"/>
            <a:ext cx="2438400" cy="398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581400"/>
            <a:ext cx="2146300" cy="4089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000" y="3556000"/>
            <a:ext cx="2222500" cy="410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5300" y="3619500"/>
            <a:ext cx="1981200" cy="4038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20800" y="2463800"/>
            <a:ext cx="54356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적용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대상지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입력변수에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대하여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예측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시행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02900" y="8216900"/>
            <a:ext cx="72390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역세권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간선도로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주변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상업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업무시설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밀집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지역에서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외곽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녹지축에서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흡수량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집중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분석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대상지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예측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결과가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토지이용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교통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독립변수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입력변수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패턴과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논리적으로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일치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25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7162800"/>
            <a:ext cx="34925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3900" y="3086100"/>
            <a:ext cx="3492500" cy="863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0" y="3225800"/>
            <a:ext cx="571500" cy="571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286500" y="3225800"/>
            <a:ext cx="3136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MODEL 1</a:t>
            </a:r>
          </a:p>
          <a:p>
            <a:pPr lvl="0" algn="ctr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탄소배출량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통합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) 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예측모델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3900" y="5143500"/>
            <a:ext cx="3492500" cy="863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7302500"/>
            <a:ext cx="571500" cy="571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261100" y="5283200"/>
            <a:ext cx="3136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MODEL 2</a:t>
            </a:r>
          </a:p>
          <a:p>
            <a:pPr lvl="0" algn="ctr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탄소배출량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수송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) 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예측모델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86500" y="7302500"/>
            <a:ext cx="3136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MODEL 3</a:t>
            </a:r>
          </a:p>
          <a:p>
            <a:pPr lvl="0" algn="ctr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탄소흡수량</a:t>
            </a:r>
            <a:r>
              <a:rPr lang="en-US" sz="1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SemiBold"/>
              </a:rPr>
              <a:t>예측모델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0" y="5283200"/>
            <a:ext cx="571500" cy="571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alphaModFix amt="47000"/>
          </a:blip>
          <a:stretch>
            <a:fillRect/>
          </a:stretch>
        </p:blipFill>
        <p:spPr>
          <a:xfrm rot="5400000">
            <a:off x="2578100" y="4775200"/>
            <a:ext cx="4813300" cy="1638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" y="2476500"/>
            <a:ext cx="279400" cy="279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alphaModFix amt="47000"/>
          </a:blip>
          <a:stretch>
            <a:fillRect/>
          </a:stretch>
        </p:blipFill>
        <p:spPr>
          <a:xfrm rot="-5400000">
            <a:off x="7658100" y="4775200"/>
            <a:ext cx="4813300" cy="16383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0350500" y="2489200"/>
            <a:ext cx="1803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탄소배출량</a:t>
            </a:r>
            <a:r>
              <a:rPr lang="en-US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SemiBold"/>
              </a:rPr>
              <a:t>(</a:t>
            </a: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통합</a:t>
            </a:r>
            <a:r>
              <a:rPr lang="en-US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SemiBold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687300" y="2489200"/>
            <a:ext cx="1993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탄소배출량</a:t>
            </a:r>
            <a:r>
              <a:rPr lang="en-US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SemiBold"/>
              </a:rPr>
              <a:t>(</a:t>
            </a: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수송</a:t>
            </a:r>
            <a:r>
              <a:rPr lang="en-US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SemiBold"/>
              </a:rPr>
              <a:t>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113000" y="2489200"/>
            <a:ext cx="1676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SemiBold"/>
              </a:rPr>
              <a:t>탄소흡수량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7600" y="2832100"/>
            <a:ext cx="2895600" cy="52959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22200" y="2832100"/>
            <a:ext cx="2806700" cy="51435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922500" y="2997200"/>
            <a:ext cx="2578100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-10800000">
            <a:off x="6375400" y="4991100"/>
            <a:ext cx="5562600" cy="12700"/>
          </a:xfrm>
          <a:prstGeom prst="rect">
            <a:avLst/>
          </a:prstGeom>
          <a:effectLst>
            <a:outerShdw blurRad="3" dist="1603" dir="13489769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1676400" y="4013200"/>
            <a:ext cx="14935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5000" b="0" i="0" u="none" strike="noStrike" spc="900">
                <a:solidFill>
                  <a:srgbClr val="11359A"/>
                </a:solidFill>
                <a:latin typeface="Pretendard SemiBold"/>
              </a:rPr>
              <a:t>03 </a:t>
            </a:r>
            <a:r>
              <a:rPr lang="ko-KR" sz="5000" b="0" i="0" u="none" strike="noStrike" spc="900">
                <a:solidFill>
                  <a:srgbClr val="000000"/>
                </a:solidFill>
                <a:ea typeface="Pretendard SemiBold"/>
              </a:rPr>
              <a:t>결과</a:t>
            </a:r>
            <a:r>
              <a:rPr lang="en-US" sz="5000" b="0" i="0" u="none" strike="noStrike" spc="9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000" b="0" i="0" u="none" strike="noStrike" spc="9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5000" b="0" i="0" u="none" strike="noStrike" spc="9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000" b="0" i="0" u="none" strike="noStrike" spc="900">
                <a:solidFill>
                  <a:srgbClr val="000000"/>
                </a:solidFill>
                <a:ea typeface="Pretendard SemiBold"/>
              </a:rPr>
              <a:t>고찰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8400" y="5626100"/>
            <a:ext cx="4457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en-US" sz="3000" b="1" i="0" u="none" strike="noStrike" spc="600">
                <a:solidFill>
                  <a:srgbClr val="11359A"/>
                </a:solidFill>
                <a:latin typeface="Pretendard Regular"/>
              </a:rPr>
              <a:t>3.1 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결론</a:t>
            </a:r>
            <a:r>
              <a:rPr lang="en-US" sz="3000" b="1" i="0" u="none" strike="noStrike" spc="6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000" b="1" i="0" u="none" strike="noStrike" spc="6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시사점</a:t>
            </a:r>
          </a:p>
          <a:p>
            <a:pPr lvl="0" algn="l">
              <a:lnSpc>
                <a:spcPct val="107899"/>
              </a:lnSpc>
            </a:pPr>
            <a:r>
              <a:rPr lang="en-US" sz="3000" b="1" i="0" u="none" strike="noStrike" spc="600">
                <a:solidFill>
                  <a:srgbClr val="11359A"/>
                </a:solidFill>
                <a:latin typeface="Pretendard Regular"/>
              </a:rPr>
              <a:t>3.2 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참고</a:t>
            </a:r>
            <a:r>
              <a:rPr lang="en-US" sz="3000" b="1" i="0" u="none" strike="noStrike" spc="6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 spc="600">
                <a:solidFill>
                  <a:srgbClr val="000000"/>
                </a:solidFill>
                <a:ea typeface="Pretendard Regular"/>
              </a:rPr>
              <a:t>문헌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1800" y="2425700"/>
            <a:ext cx="60452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토지이용계획별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1㎡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당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탄소발생량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/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흡수량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03500" y="2908300"/>
            <a:ext cx="72390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흡수량을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계량적으로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분석하기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위해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1600" b="0" i="0" u="none" strike="noStrike">
                <a:solidFill>
                  <a:srgbClr val="11359A"/>
                </a:solidFill>
                <a:latin typeface="Pretendard Light"/>
              </a:rPr>
              <a:t>* 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회귀분석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기반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Light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Light"/>
              </a:rPr>
              <a:t>예측값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계산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특히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도로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단독주택은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높은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기여도를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공원은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높은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흡수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기여도를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보임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토지이용계획별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기여도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➜ 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난방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전력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시뮬레이션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교통수요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관리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시나리오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활용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가능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27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527300" y="4267200"/>
          <a:ext cx="7581900" cy="36703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토지이용유형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 1㎡</a:t>
                      </a: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당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탄소배출량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통합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1㎡</a:t>
                      </a: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당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탄소배출량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수송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1㎡</a:t>
                      </a: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당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탄소흡수량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공동주택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1745.74181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8996.25958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공원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3868.37596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32304.93725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23411.00447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기타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2496.84418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15038.37102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녹지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555.27799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8076.4437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24775.77049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단독주택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122440.51516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40005.0755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도로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5563.78995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75415.68722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상업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56323.70601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24241.416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FC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하천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3091.64784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2966.64253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0.0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2413000"/>
            <a:ext cx="342900" cy="342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3784600"/>
            <a:ext cx="2946400" cy="45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3289300"/>
            <a:ext cx="3784600" cy="3606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3263900"/>
            <a:ext cx="3810000" cy="3644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616200" y="3835400"/>
            <a:ext cx="539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0" b="1" i="0" u="none" strike="noStrike">
                <a:solidFill>
                  <a:srgbClr val="11359A"/>
                </a:solidFill>
                <a:latin typeface="Pretendard Light"/>
              </a:rPr>
              <a:t>*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52700" y="8140700"/>
            <a:ext cx="82931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추정된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탄소배출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흡수량을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기준으로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미래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모빌리티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분담률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적용에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따른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탄소저감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효과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분석대상지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탄소저감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효과의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공원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녹지조성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효과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면적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산정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결과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고찰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결론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시사점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광명시흥신도시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토지이용계획별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탄소발생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흡수량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도출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3.1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88700" y="7137400"/>
            <a:ext cx="7239000" cy="127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446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단독주택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30%,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녹지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20%,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하천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6%,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도로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14%,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기타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30% </a:t>
            </a:r>
          </a:p>
          <a:p>
            <a:pPr lvl="0" algn="l">
              <a:lnSpc>
                <a:spcPct val="13446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 = 24100,938 tCO₂eq/year</a:t>
            </a:r>
          </a:p>
          <a:p>
            <a:pPr lvl="0" algn="l">
              <a:lnSpc>
                <a:spcPct val="13446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탄소배출량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수송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) = 196347,055 tCO₂eq/year</a:t>
            </a:r>
          </a:p>
          <a:p>
            <a:pPr lvl="0" algn="l">
              <a:lnSpc>
                <a:spcPct val="13446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탄소흡수량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= 49551,541 tCO₂eq/year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23600" y="2806700"/>
            <a:ext cx="4737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예시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: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격자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탄소발생량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/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흡수량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계산과정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결과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고찰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결론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시사점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광명시흥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미래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모빌리티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3.1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52600" y="2743200"/>
            <a:ext cx="64135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광명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 · 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시흥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공공주택지구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-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미래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모빌리티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분담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시나리오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5400" y="7620000"/>
            <a:ext cx="72390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- 2032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시나리오는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신교통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(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로보셔틀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택시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·UAM)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포함한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시나리오가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없음</a:t>
            </a:r>
          </a:p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- 2036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년은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시나리오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1·2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가지로만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로보셔틀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로보택시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분담률이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계산되어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Light"/>
              </a:rPr>
              <a:t>있음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28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308100" y="3238500"/>
          <a:ext cx="6654800" cy="4241800"/>
        </p:xfrm>
        <a:graphic>
          <a:graphicData uri="http://schemas.openxmlformats.org/drawingml/2006/table">
            <a:tbl>
              <a:tblPr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구분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대상연도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분담비율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비고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Baseline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전통수단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2032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승용차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32.96 %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택시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1.21 %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버스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15.52 %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도시철도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13.77 %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자전거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24.00 %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기타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12.54 %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기준연도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-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로보셔틀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로보택시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·UAM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미포함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Baseline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목표연도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2036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승용차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광명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 31 % · 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시흥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48.8 % 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평균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약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40 %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목표연도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전통수단만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가정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시나리오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로보셔틀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로보택시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동일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규모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운영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2036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승용차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57.6 %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버스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15.4 %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도시철도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12.3 %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자전거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22.0 %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로보셔틀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2.06 %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로보택시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1.49 % · PM/UAM 1.2 %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내부통행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시나리오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1 -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접근시간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대기시간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기준과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동일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시나리오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2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로보셔틀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로보택시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½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규모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접근성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2036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승용차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54.9 %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버스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15.7 %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도시철도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12.1 %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자전거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22.0 %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로보셔틀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0.55 % 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로보택시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0.49 % · PM/UAM 1.3 %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내부통행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시나리오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2 -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로보셔틀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택시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대수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½,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접근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 / 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대기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2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94000"/>
            <a:ext cx="279400" cy="279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017000" y="1981200"/>
            <a:ext cx="78613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광명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 · 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시흥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공공주택지구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-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미래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모빌리티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시나리오별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탄소저감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효과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8674100" y="2476500"/>
          <a:ext cx="7581900" cy="15621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지표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기준치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시나리오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1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시나리오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일일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수송배출량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(t CO₂)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1 430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1 170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1 310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감축량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감축률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–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-260 t / -18 %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-120 t / -8 %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2032000"/>
            <a:ext cx="279400" cy="279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674100" y="4279900"/>
            <a:ext cx="76200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승용차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분담률을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33→20 %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낮추면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하루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약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260 t CO₂(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95 kt)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감축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격자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도로비율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가중분배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결과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고배출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Hot-spot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도심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주변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대로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물류지대에서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25 %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이상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감소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8674100" y="5765800"/>
          <a:ext cx="7556500" cy="2616200"/>
        </p:xfrm>
        <a:graphic>
          <a:graphicData uri="http://schemas.openxmlformats.org/drawingml/2006/table">
            <a:tbl>
              <a:tblPr/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항목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면적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(ha)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*</a:t>
                      </a:r>
                      <a:r>
                        <a:rPr lang="ko-KR" sz="1700" b="1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단위흡수계수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연간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흡수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(kt CO₂)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현행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공원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181.5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12.3 kg/㎡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22.3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현행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녹지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73.5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14.6 kg/㎡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10.7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소계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255.0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—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33.0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녹지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100 ha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추가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+100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14.6 kg/㎡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+14.6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100" y="5321300"/>
            <a:ext cx="2794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686800" y="8483600"/>
            <a:ext cx="82931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조성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100 ha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확보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도시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총흡수량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+44 %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상승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열섬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미세먼지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완화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기대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1600" b="1" i="0" u="none" strike="noStrike">
                <a:solidFill>
                  <a:srgbClr val="11359A"/>
                </a:solidFill>
                <a:latin typeface="Pretendard Regular"/>
              </a:rPr>
              <a:t>*</a:t>
            </a:r>
            <a:r>
              <a:rPr lang="ko-KR" sz="1600" b="1" i="0" u="none" strike="noStrike">
                <a:solidFill>
                  <a:srgbClr val="11359A"/>
                </a:solidFill>
                <a:ea typeface="Pretendard Regular"/>
              </a:rPr>
              <a:t>계수</a:t>
            </a:r>
            <a:r>
              <a:rPr lang="en-US" sz="1600" b="1" i="0" u="none" strike="noStrike">
                <a:solidFill>
                  <a:srgbClr val="11359A"/>
                </a:solidFill>
                <a:latin typeface="Pretendard Regular"/>
              </a:rPr>
              <a:t>: NNLS </a:t>
            </a:r>
            <a:r>
              <a:rPr lang="ko-KR" sz="1600" b="1" i="0" u="none" strike="noStrike">
                <a:solidFill>
                  <a:srgbClr val="11359A"/>
                </a:solidFill>
                <a:ea typeface="Pretendard Regular"/>
              </a:rPr>
              <a:t>회귀로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Regular"/>
              </a:rPr>
              <a:t>추정한</a:t>
            </a:r>
            <a:r>
              <a:rPr lang="en-US" sz="1600" b="1" i="0" u="none" strike="noStrike">
                <a:solidFill>
                  <a:srgbClr val="11359A"/>
                </a:solidFill>
                <a:latin typeface="Pretendard Regular"/>
              </a:rPr>
              <a:t> 1 ㎡</a:t>
            </a:r>
            <a:r>
              <a:rPr lang="ko-KR" sz="1600" b="1" i="0" u="none" strike="noStrike">
                <a:solidFill>
                  <a:srgbClr val="11359A"/>
                </a:solidFill>
                <a:ea typeface="Pretendard Regular"/>
              </a:rPr>
              <a:t>당</a:t>
            </a:r>
            <a:r>
              <a:rPr lang="en-US" sz="1600" b="1" i="0" u="none" strike="noStrike">
                <a:solidFill>
                  <a:srgbClr val="11359A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11359A"/>
                </a:solidFill>
                <a:ea typeface="Pretendard Regular"/>
              </a:rPr>
              <a:t>탄소흡수량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67800" y="5283200"/>
            <a:ext cx="72390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광명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 · 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시흥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공공주택지구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-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공원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·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녹지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확충에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따른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탄소흡수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증가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7300" y="482600"/>
            <a:ext cx="7747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결과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고찰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결론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시사점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광명시흥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미래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모빌리티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3.1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36800" y="2120900"/>
            <a:ext cx="70485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광명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 · 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시흥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공공주택지구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- 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분석요소</a:t>
            </a:r>
            <a:r>
              <a:rPr lang="en-US" sz="2200" b="0" i="0" u="none" strike="noStrike">
                <a:solidFill>
                  <a:srgbClr val="000000"/>
                </a:solidFill>
                <a:latin typeface="Pretendard SemiBold"/>
              </a:rPr>
              <a:t> 4</a:t>
            </a:r>
            <a:r>
              <a:rPr lang="ko-KR" sz="2200" b="0" i="0" u="none" strike="noStrike">
                <a:solidFill>
                  <a:srgbClr val="000000"/>
                </a:solidFill>
                <a:ea typeface="Pretendard SemiBold"/>
              </a:rPr>
              <a:t>가지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29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159000"/>
            <a:ext cx="279400" cy="279400"/>
          </a:xfrm>
          <a:prstGeom prst="rect">
            <a:avLst/>
          </a:prstGeom>
        </p:spPr>
      </p:pic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955800" y="2755900"/>
          <a:ext cx="14071600" cy="6019800"/>
        </p:xfrm>
        <a:graphic>
          <a:graphicData uri="http://schemas.openxmlformats.org/drawingml/2006/table">
            <a:tbl>
              <a:tblPr/>
              <a:tblGrid>
                <a:gridCol w="250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1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분석요소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분석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아이디어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시각화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설명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6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❶  2032~2036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변화가</a:t>
                      </a:r>
                      <a:b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-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배출에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미치는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영향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?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- 2032 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교차로점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 2036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통행량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성장률을</a:t>
                      </a:r>
                      <a:b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도로비율로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가중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시각화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: 2032→2036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교차로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통행량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증가율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대부분의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격자가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통행량이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줄었거나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 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거의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변동이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없음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-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증가율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TOP 5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-1.1 % ~ -1.5 %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실질적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감소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.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 - 2032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대비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수요가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전반적으로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억제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특정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노선만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소폭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증가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43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❷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분담률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시나리오</a:t>
                      </a:r>
                      <a:b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적용하면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?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-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교통수요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PDF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나온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분담률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×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총통행량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× EF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시각화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: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승용차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20 %”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시나리오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감축량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분포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진한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파랑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구간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주간선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주요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교차로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)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이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b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하루당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0.008 ~ 0.015 t CO₂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감축을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기록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 -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승용차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분담률을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33 %→20 %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낮추면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고배출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축에서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18 %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내외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직접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감축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배출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Hot-spot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완화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효과가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뚜렷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❹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녹지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공원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식재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효율이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좋은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위치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NNLS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얻은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“1 ㎡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당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 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흡수계수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” ×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후보지면적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→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최대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감소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격자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선정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녹지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100 ha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추가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→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연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+14.6 kt CO₂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흡수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(+44 %).</a:t>
                      </a:r>
                      <a:b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</a:b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‘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녹지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’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계수가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압도적으로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크고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나머지는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미미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 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 -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같은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면적이라도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도시숲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녹지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) &gt;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근린공원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흡수효과가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높음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9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❸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승용차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분담률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민감도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곡선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-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CSV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의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동일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gid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비교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→ “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대상지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”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실제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-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예측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편차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지도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시각화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: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승용차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분담률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민감도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곡선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승용차분담이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낮아질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수록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탄소감축량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선형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11359A"/>
                          </a:solidFill>
                          <a:ea typeface="Pretendard Regular"/>
                        </a:rPr>
                        <a:t>감소</a:t>
                      </a:r>
                      <a:r>
                        <a:rPr lang="en-US" sz="1500" b="0" i="0" u="none" strike="noStrike">
                          <a:solidFill>
                            <a:srgbClr val="11359A"/>
                          </a:solidFill>
                          <a:latin typeface="Pretendard Regular"/>
                        </a:rPr>
                        <a:t>.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 -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기울기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≈ 0.35 t CO₂/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·P ⇒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승용차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비중을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1 %P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낮출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때마다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약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0.35 t CO₂/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절감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.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  -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분담률을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25 %→22 %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로만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낮춰도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약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1 t CO₂/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일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b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</a:b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추가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감축이</a:t>
                      </a:r>
                      <a:r>
                        <a:rPr lang="en-US" sz="1500" b="0" i="0" u="none" strike="noStrike">
                          <a:solidFill>
                            <a:srgbClr val="595959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500" b="0" i="0" u="none" strike="noStrike">
                          <a:solidFill>
                            <a:srgbClr val="595959"/>
                          </a:solidFill>
                          <a:ea typeface="Pretendard Regular"/>
                        </a:rPr>
                        <a:t>가능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700" y="3238500"/>
            <a:ext cx="2705100" cy="1181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4470400"/>
            <a:ext cx="2705100" cy="133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8300" y="7353300"/>
            <a:ext cx="2730500" cy="1117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400" y="5905500"/>
            <a:ext cx="2692400" cy="1308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546600" y="8953500"/>
            <a:ext cx="92329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 - “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승용차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20 % +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녹지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100 ha”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조합으로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최대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연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110 kt CO₂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순감축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달성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가능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</a:t>
            </a:r>
          </a:p>
          <a:p>
            <a:pPr lvl="0" algn="ct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도시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·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교통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·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녹지계획을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통합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검토하여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2040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국가탄소중립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로드맵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지역목표</a:t>
            </a:r>
            <a:r>
              <a:rPr lang="en-US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highlight>
                  <a:srgbClr val="CCD2F0"/>
                </a:highlight>
                <a:ea typeface="Pretendard Regular"/>
              </a:rPr>
              <a:t>달성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06900" y="95123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30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30400" y="1803400"/>
            <a:ext cx="14947900" cy="722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세계기상기구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(WMO). (2024). 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70% CHANCE GLOBAL TEMPERATURES WILL EXCEED 1.5°C BY 2029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MET OFFICE. (2024).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GLOBAL CLIMATE PREDICTIONS SHOW TEMPERATURES EXPECTED TO REMAIN AT OR NEAR RECORD LEVELS IN COMING FIVE YEARS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환경부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 (2024).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기후위기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대응을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위한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탄소중립ㆍ녹색성장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기본법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시행령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건축공간연구원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 (2023).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기후위기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대응력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강화를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위한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탄소중립도시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종합계획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수립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방안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연구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IPCC. (2023). 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SIXTH ASSESSMENT REPORT.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탄소중립위원회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관계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정부부처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. (2021). 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2030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온실가스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배출량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감축목표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상향안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국토연구원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 (2023).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탄소중립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실현을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위한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도시공간정책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개선방안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포스코그룹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 (2024).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알기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쉬운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탄소중립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이야기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: 2024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탄소중립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트렌드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매일건설신문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 (2018).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개인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땅도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임대해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도시공원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만든다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현대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월드와이드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 (2021).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현대자동차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×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모셔널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- 2023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년부터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만나볼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있게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될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아이오닉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5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로보택시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현대자동차그룹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 (2023).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당신의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비즈니스에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맞는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최고의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다목적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모빌리티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PBV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이태정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김기동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정원식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김동술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 (2012). 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도로수송부문의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온실가스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배출량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산정방법에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따른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경기도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시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·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군별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배출량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비교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.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한국대기환경학회지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, 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28(4), 454-465.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이민호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오동규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강승모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 (2013). 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온실가스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배출과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교통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혼잡을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고려한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공공시설의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최적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위치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산정에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관한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연구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.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대한교통학회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학술대회지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68, 46 - 51.</a:t>
            </a:r>
          </a:p>
          <a:p>
            <a:pPr lvl="0" algn="l">
              <a:lnSpc>
                <a:spcPct val="131970"/>
              </a:lnSpc>
            </a:pP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정민선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조희선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변병설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 (2015). 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도시특성요소가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온실가스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배출에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미치는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영향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- 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수도권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지역을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1" u="none" strike="noStrike">
                <a:solidFill>
                  <a:srgbClr val="000000"/>
                </a:solidFill>
                <a:ea typeface="Pretendard Light"/>
              </a:rPr>
              <a:t>중심으로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 -.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Pretendard Light"/>
              </a:rPr>
              <a:t>국토지리학회지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, 49(3), 297-306.</a:t>
            </a:r>
          </a:p>
          <a:p>
            <a:pPr lvl="0" algn="l">
              <a:lnSpc>
                <a:spcPct val="13197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MARK J. NIEUWENHUIJSEN. (2020). 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URBAN AND TRANSPORT PLANNING PATHWAYS TO CARBON NEUTRAL, LIVEABLE AND HEALTHY CITIES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. SCIENCEDIRECT - ENVIRONMENTAL RESEARCH. 140, 105661.</a:t>
            </a:r>
          </a:p>
          <a:p>
            <a:pPr lvl="0" algn="l">
              <a:lnSpc>
                <a:spcPct val="13197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JIAH LEE, SEUNGHYUN JUNG. (2023). 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TOWARDS CARBON-NEUTRAL CITIES: URBAN CLASSIFICATION BASED ON PHYSICAL ENVIRONMENT AND CARBON EMISSION CHARACTERISTICS.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 LAND, 2023, 12(5), 968.</a:t>
            </a:r>
          </a:p>
          <a:p>
            <a:pPr lvl="0" algn="l">
              <a:lnSpc>
                <a:spcPct val="13197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NIKOLAUS LANG, MICHAEL RÜSSMANN, THOMAS DAUNER, SATOSHI KOMIYA, XAVIER MOSQUET, XANTHI. (2016). 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SELF-DRIVING VEHICLES, ROBO-TAXIS, AND THE URBAN MOBILITY REVOLUTION. 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BOSTON CONSULTING GROUP.</a:t>
            </a:r>
          </a:p>
          <a:p>
            <a:pPr lvl="0" algn="l">
              <a:lnSpc>
                <a:spcPct val="13197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TOLGA ERCAN, NURI C. ONAT, NOWREEN KEYA, ÖMER TATARI, NAVEEN ELURU, MURAT KÜÇÜKVAR. (2022). 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AUTONOMOUS ELECTRIC VEHICLES CAN REDUCE CARBON EMISSIONS AND AIR POLLUTION. 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TRANSPORTATION RESEARCH PART D: TRANSPORT AND ENVIRONMENT</a:t>
            </a:r>
          </a:p>
          <a:p>
            <a:pPr lvl="0" algn="l">
              <a:lnSpc>
                <a:spcPct val="13197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WU, X., ZHANG, B., NIELSEN, M. P., &amp; CHEN, Z. (2024). </a:t>
            </a:r>
            <a:r>
              <a:rPr lang="en-US" sz="1500" b="0" i="1" u="none" strike="noStrike">
                <a:solidFill>
                  <a:srgbClr val="000000"/>
                </a:solidFill>
                <a:latin typeface="Pretendard Light"/>
              </a:rPr>
              <a:t>MULTI-STAGE PLANNING OF INTEGRATED ELECTRICITY-GAS-HEATING SYSTEM IN THE CONTEXT OF CARBON EMISSION REDUCTION. </a:t>
            </a:r>
            <a:r>
              <a:rPr lang="en-US" sz="1500" b="0" i="0" u="none" strike="noStrike">
                <a:solidFill>
                  <a:srgbClr val="000000"/>
                </a:solidFill>
                <a:latin typeface="Pretendard Light"/>
              </a:rPr>
              <a:t>APPLIED ENERGY, 358, 122584.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27300" y="469900"/>
            <a:ext cx="21209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참고</a:t>
            </a:r>
            <a:r>
              <a:rPr lang="en-US" sz="2800" b="1" i="0" u="none" strike="noStrike" spc="5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1" i="0" u="none" strike="noStrike" spc="500">
                <a:solidFill>
                  <a:srgbClr val="000000"/>
                </a:solidFill>
                <a:ea typeface="Pretendard SemiBold"/>
              </a:rPr>
              <a:t>문헌</a:t>
            </a:r>
          </a:p>
          <a:p>
            <a:pPr lvl="0" algn="l">
              <a:lnSpc>
                <a:spcPct val="107899"/>
              </a:lnSpc>
            </a:pP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참고</a:t>
            </a:r>
            <a:r>
              <a:rPr lang="en-US" sz="1800" b="0" i="0" u="none" strike="noStrike" spc="3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 spc="300">
                <a:solidFill>
                  <a:srgbClr val="000000"/>
                </a:solidFill>
                <a:ea typeface="Pretendard Regular"/>
              </a:rPr>
              <a:t>문헌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406400"/>
            <a:ext cx="1270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800" b="1" i="0" u="none" strike="noStrike">
                <a:solidFill>
                  <a:srgbClr val="11359A"/>
                </a:solidFill>
                <a:latin typeface="Pretendard Regular"/>
              </a:rPr>
              <a:t>3.2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4584700"/>
            <a:ext cx="4114800" cy="1155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962900" y="4584700"/>
            <a:ext cx="23622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spc="1100">
                <a:solidFill>
                  <a:srgbClr val="11359A"/>
                </a:solidFill>
                <a:latin typeface="Pretendard SemiBold"/>
              </a:rPr>
              <a:t>Q&amp;A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27600" y="9855200"/>
            <a:ext cx="4445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400" b="0" i="0" u="none" strike="noStrike">
                <a:solidFill>
                  <a:srgbClr val="000000">
                    <a:alpha val="40000"/>
                  </a:srgbClr>
                </a:solidFill>
                <a:latin typeface="Pretendard Bold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5226</Words>
  <Application>Microsoft Office PowerPoint</Application>
  <PresentationFormat>사용자 지정</PresentationFormat>
  <Paragraphs>846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0" baseType="lpstr">
      <vt:lpstr>Pretendard SemiBold</vt:lpstr>
      <vt:lpstr>Calibri</vt:lpstr>
      <vt:lpstr>Pretendard Medium</vt:lpstr>
      <vt:lpstr>Pretendard Regular</vt:lpstr>
      <vt:lpstr>Pretendard ExtraBold</vt:lpstr>
      <vt:lpstr>Pretendard Bold</vt:lpstr>
      <vt:lpstr>Pretendard Light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준규 한</cp:lastModifiedBy>
  <cp:revision>6</cp:revision>
  <dcterms:created xsi:type="dcterms:W3CDTF">2006-08-16T00:00:00Z</dcterms:created>
  <dcterms:modified xsi:type="dcterms:W3CDTF">2025-06-13T04:19:59Z</dcterms:modified>
</cp:coreProperties>
</file>